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0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over-accent">
            <a:extLst>
              <a:ext uri="{FF2B5EF4-FFF2-40B4-BE49-F238E27FC236}">
                <a16:creationId xmlns:a16="http://schemas.microsoft.com/office/drawing/2014/main" id="{97ECD18A-5C3E-4B21-9B89-4337452D33F8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6200" cy="203835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B442C6D8-1FFF-4BD6-BD0B-FDE7019BB2F0}"/>
              </a:ext>
            </a:extLst>
          </p:cNvPr>
          <p:cNvSpPr>
            <a:spLocks noGrp="1"/>
          </p:cNvSpPr>
          <p:nvPr/>
        </p:nvSpPr>
        <p:spPr>
          <a:xfrm>
            <a:off x="742950" y="647700"/>
            <a:ext cx="5334000" cy="20002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Python 二十一点
游戏系统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E7F7507B-DC47-48D9-B41A-BC7ABA9D1617}"/>
              </a:ext>
            </a:extLst>
          </p:cNvPr>
          <p:cNvSpPr>
            <a:spLocks noGrp="1"/>
          </p:cNvSpPr>
          <p:nvPr/>
        </p:nvSpPr>
        <p:spPr>
          <a:xfrm>
            <a:off x="762000" y="2990850"/>
            <a:ext cx="4762500" cy="4381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l">
              <a:defRPr sz="1800" b="0">
                <a:solidFill>
                  <a:srgbClr val="E5E5E5"/>
                </a:solidFill>
                <a:latin typeface="Microsoft YaHei"/>
                <a:ea typeface="Microsoft YaHei"/>
                <a:cs typeface="Microsoft YaHei"/>
              </a:defRPr>
            </a:pPr>
            <a:r>
              <a:t>控制台 Blackjack · 课程设计答辩</a:t>
            </a:r>
          </a:p>
        </p:txBody>
      </p:sp>
      <p:sp>
        <p:nvSpPr>
          <p:cNvPr id="5" name="cover-tech">
            <a:extLst>
              <a:ext uri="{FF2B5EF4-FFF2-40B4-BE49-F238E27FC236}">
                <a16:creationId xmlns:a16="http://schemas.microsoft.com/office/drawing/2014/main" id="{B90C42D7-1B4E-48D5-BB43-1E47C3CE38D3}"/>
              </a:ext>
            </a:extLst>
          </p:cNvPr>
          <p:cNvSpPr>
            <a:spLocks noGrp="1"/>
          </p:cNvSpPr>
          <p:nvPr/>
        </p:nvSpPr>
        <p:spPr>
          <a:xfrm>
            <a:off x="762000" y="3638550"/>
            <a:ext cx="4572000" cy="30480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l">
              <a:defRPr sz="1350" b="0">
                <a:solidFill>
                  <a:srgbClr val="BFC1C4"/>
                </a:solidFill>
                <a:latin typeface="Microsoft YaHei"/>
                <a:ea typeface="Microsoft YaHei"/>
                <a:cs typeface="Microsoft YaHei"/>
              </a:defRPr>
            </a:pPr>
            <a:r>
              <a:t>Python  |  面向对象  |  JSON 持久化</a:t>
            </a:r>
          </a:p>
        </p:txBody>
      </p:sp>
      <p:sp>
        <p:nvSpPr>
          <p:cNvPr id="7" name="footer-page-1">
            <a:extLst>
              <a:ext uri="{FF2B5EF4-FFF2-40B4-BE49-F238E27FC236}">
                <a16:creationId xmlns:a16="http://schemas.microsoft.com/office/drawing/2014/main" id="{05A481CD-15CA-4A4B-958E-1C30DC07301C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63365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-2">
            <a:extLst>
              <a:ext uri="{FF2B5EF4-FFF2-40B4-BE49-F238E27FC236}">
                <a16:creationId xmlns:a16="http://schemas.microsoft.com/office/drawing/2014/main" id="{806268EA-7FF5-4211-B95E-29E9AC9AF3C9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048000" cy="2095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l">
              <a:defRPr sz="10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PROJECT SCOPE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F0812B47-1AEF-46AE-B7F2-54A94BD566E0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81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从基础发牌扩展到完整对局系统</a:t>
            </a:r>
          </a:p>
        </p:txBody>
      </p:sp>
      <p:sp>
        <p:nvSpPr>
          <p:cNvPr id="3" name="title-rule-2">
            <a:extLst>
              <a:ext uri="{FF2B5EF4-FFF2-40B4-BE49-F238E27FC236}">
                <a16:creationId xmlns:a16="http://schemas.microsoft.com/office/drawing/2014/main" id="{B4D5A818-6427-45A3-8A88-D64F1343F056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914400" cy="47625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scope-lead">
            <a:extLst>
              <a:ext uri="{FF2B5EF4-FFF2-40B4-BE49-F238E27FC236}">
                <a16:creationId xmlns:a16="http://schemas.microsoft.com/office/drawing/2014/main" id="{D3417E0A-BA0F-4457-BF38-348514F3B858}"/>
              </a:ext>
            </a:extLst>
          </p:cNvPr>
          <p:cNvSpPr>
            <a:spLocks noGrp="1"/>
          </p:cNvSpPr>
          <p:nvPr/>
        </p:nvSpPr>
        <p:spPr>
          <a:xfrm>
            <a:off x="6191250" y="571500"/>
            <a:ext cx="5334000" cy="6858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项目围绕真实对局状态展开：玩家不只拿牌，还要管理筹码、选择策略并保留进度。</a:t>
            </a:r>
          </a:p>
        </p:txBody>
      </p:sp>
      <p:sp>
        <p:nvSpPr>
          <p:cNvPr id="5" name="metric-1">
            <a:extLst>
              <a:ext uri="{FF2B5EF4-FFF2-40B4-BE49-F238E27FC236}">
                <a16:creationId xmlns:a16="http://schemas.microsoft.com/office/drawing/2014/main" id="{1C7D1855-E8FD-481F-B83F-A1F3FAAC1085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2571750" cy="2647950"/>
          </a:xfrm>
          <a:prstGeom prst="roundRect">
            <a:avLst>
              <a:gd name="adj" fmla="val 2963"/>
            </a:avLst>
          </a:prstGeom>
          <a:solidFill>
            <a:srgbClr val="EDEDED"/>
          </a:solidFill>
        </p:spPr>
      </p:sp>
      <p:sp>
        <p:nvSpPr>
          <p:cNvPr id="6" name="metric-2">
            <a:extLst>
              <a:ext uri="{FF2B5EF4-FFF2-40B4-BE49-F238E27FC236}">
                <a16:creationId xmlns:a16="http://schemas.microsoft.com/office/drawing/2014/main" id="{778CF923-CB36-4D68-BB31-D91F6E8B0E6D}"/>
              </a:ext>
            </a:extLst>
          </p:cNvPr>
          <p:cNvSpPr>
            <a:spLocks noGrp="1"/>
          </p:cNvSpPr>
          <p:nvPr/>
        </p:nvSpPr>
        <p:spPr>
          <a:xfrm>
            <a:off x="3343275" y="2038350"/>
            <a:ext cx="2571750" cy="2647950"/>
          </a:xfrm>
          <a:prstGeom prst="roundRect">
            <a:avLst>
              <a:gd name="adj" fmla="val 2963"/>
            </a:avLst>
          </a:prstGeom>
          <a:solidFill>
            <a:srgbClr val="EDEDED"/>
          </a:solidFill>
        </p:spPr>
      </p:sp>
      <p:sp>
        <p:nvSpPr>
          <p:cNvPr id="7" name="metric-3">
            <a:extLst>
              <a:ext uri="{FF2B5EF4-FFF2-40B4-BE49-F238E27FC236}">
                <a16:creationId xmlns:a16="http://schemas.microsoft.com/office/drawing/2014/main" id="{463135A2-589C-4B78-9981-ACD0F1DE0612}"/>
              </a:ext>
            </a:extLst>
          </p:cNvPr>
          <p:cNvSpPr>
            <a:spLocks noGrp="1"/>
          </p:cNvSpPr>
          <p:nvPr/>
        </p:nvSpPr>
        <p:spPr>
          <a:xfrm>
            <a:off x="6286500" y="2038350"/>
            <a:ext cx="2571750" cy="2647950"/>
          </a:xfrm>
          <a:prstGeom prst="roundRect">
            <a:avLst>
              <a:gd name="adj" fmla="val 2963"/>
            </a:avLst>
          </a:prstGeom>
          <a:solidFill>
            <a:srgbClr val="EDEDED"/>
          </a:solidFill>
        </p:spPr>
      </p:sp>
      <p:sp>
        <p:nvSpPr>
          <p:cNvPr id="8" name="metric-4">
            <a:extLst>
              <a:ext uri="{FF2B5EF4-FFF2-40B4-BE49-F238E27FC236}">
                <a16:creationId xmlns:a16="http://schemas.microsoft.com/office/drawing/2014/main" id="{58C34D00-FA0D-48AD-BAC3-B0CD2165B864}"/>
              </a:ext>
            </a:extLst>
          </p:cNvPr>
          <p:cNvSpPr>
            <a:spLocks noGrp="1"/>
          </p:cNvSpPr>
          <p:nvPr/>
        </p:nvSpPr>
        <p:spPr>
          <a:xfrm>
            <a:off x="9229725" y="2038350"/>
            <a:ext cx="2571750" cy="2647950"/>
          </a:xfrm>
          <a:prstGeom prst="roundRect">
            <a:avLst>
              <a:gd name="adj" fmla="val 2963"/>
            </a:avLst>
          </a:prstGeom>
          <a:solidFill>
            <a:srgbClr val="EDEDED"/>
          </a:solidFill>
        </p:spPr>
      </p:sp>
      <p:sp>
        <p:nvSpPr>
          <p:cNvPr id="9" name="metric-n1">
            <a:extLst>
              <a:ext uri="{FF2B5EF4-FFF2-40B4-BE49-F238E27FC236}">
                <a16:creationId xmlns:a16="http://schemas.microsoft.com/office/drawing/2014/main" id="{51DA6795-A577-4A22-B413-777381209A2D}"/>
              </a:ext>
            </a:extLst>
          </p:cNvPr>
          <p:cNvSpPr>
            <a:spLocks noGrp="1"/>
          </p:cNvSpPr>
          <p:nvPr/>
        </p:nvSpPr>
        <p:spPr>
          <a:xfrm>
            <a:off x="647700" y="2266950"/>
            <a:ext cx="2095500" cy="8763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4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52</a:t>
            </a:r>
          </a:p>
        </p:txBody>
      </p:sp>
      <p:sp>
        <p:nvSpPr>
          <p:cNvPr id="10" name="metric-n2">
            <a:extLst>
              <a:ext uri="{FF2B5EF4-FFF2-40B4-BE49-F238E27FC236}">
                <a16:creationId xmlns:a16="http://schemas.microsoft.com/office/drawing/2014/main" id="{FF81138A-57A8-4BFA-BBF3-B01A9115D769}"/>
              </a:ext>
            </a:extLst>
          </p:cNvPr>
          <p:cNvSpPr>
            <a:spLocks noGrp="1"/>
          </p:cNvSpPr>
          <p:nvPr/>
        </p:nvSpPr>
        <p:spPr>
          <a:xfrm>
            <a:off x="3590925" y="2266950"/>
            <a:ext cx="2095500" cy="8763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4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2–4</a:t>
            </a:r>
          </a:p>
        </p:txBody>
      </p:sp>
      <p:sp>
        <p:nvSpPr>
          <p:cNvPr id="11" name="metric-n3">
            <a:extLst>
              <a:ext uri="{FF2B5EF4-FFF2-40B4-BE49-F238E27FC236}">
                <a16:creationId xmlns:a16="http://schemas.microsoft.com/office/drawing/2014/main" id="{E471629C-ABE3-455A-962E-12B707241D8A}"/>
              </a:ext>
            </a:extLst>
          </p:cNvPr>
          <p:cNvSpPr>
            <a:spLocks noGrp="1"/>
          </p:cNvSpPr>
          <p:nvPr/>
        </p:nvSpPr>
        <p:spPr>
          <a:xfrm>
            <a:off x="6534150" y="2266950"/>
            <a:ext cx="2095500" cy="8763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4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1000</a:t>
            </a:r>
          </a:p>
        </p:txBody>
      </p:sp>
      <p:sp>
        <p:nvSpPr>
          <p:cNvPr id="12" name="metric-n4">
            <a:extLst>
              <a:ext uri="{FF2B5EF4-FFF2-40B4-BE49-F238E27FC236}">
                <a16:creationId xmlns:a16="http://schemas.microsoft.com/office/drawing/2014/main" id="{10870D55-2A1C-4F30-B885-ED1D4F2AE77B}"/>
              </a:ext>
            </a:extLst>
          </p:cNvPr>
          <p:cNvSpPr>
            <a:spLocks noGrp="1"/>
          </p:cNvSpPr>
          <p:nvPr/>
        </p:nvSpPr>
        <p:spPr>
          <a:xfrm>
            <a:off x="9477375" y="2266950"/>
            <a:ext cx="2095500" cy="8763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40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8</a:t>
            </a:r>
          </a:p>
        </p:txBody>
      </p:sp>
      <p:sp>
        <p:nvSpPr>
          <p:cNvPr id="13" name="metric-d1">
            <a:extLst>
              <a:ext uri="{FF2B5EF4-FFF2-40B4-BE49-F238E27FC236}">
                <a16:creationId xmlns:a16="http://schemas.microsoft.com/office/drawing/2014/main" id="{69D5F95B-02EF-4145-AA17-60ACC1709A3F}"/>
              </a:ext>
            </a:extLst>
          </p:cNvPr>
          <p:cNvSpPr>
            <a:spLocks noGrp="1"/>
          </p:cNvSpPr>
          <p:nvPr/>
        </p:nvSpPr>
        <p:spPr>
          <a:xfrm>
            <a:off x="647700" y="3619500"/>
            <a:ext cx="2095500" cy="666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标准扑克牌
自动生成并洗牌</a:t>
            </a:r>
          </a:p>
        </p:txBody>
      </p:sp>
      <p:sp>
        <p:nvSpPr>
          <p:cNvPr id="14" name="metric-d2">
            <a:extLst>
              <a:ext uri="{FF2B5EF4-FFF2-40B4-BE49-F238E27FC236}">
                <a16:creationId xmlns:a16="http://schemas.microsoft.com/office/drawing/2014/main" id="{D2350297-1F33-40B9-8A42-19CA62FC1886}"/>
              </a:ext>
            </a:extLst>
          </p:cNvPr>
          <p:cNvSpPr>
            <a:spLocks noGrp="1"/>
          </p:cNvSpPr>
          <p:nvPr/>
        </p:nvSpPr>
        <p:spPr>
          <a:xfrm>
            <a:off x="3590925" y="3619500"/>
            <a:ext cx="2095500" cy="666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多人轮流操作
共享同一庄家</a:t>
            </a:r>
          </a:p>
        </p:txBody>
      </p:sp>
      <p:sp>
        <p:nvSpPr>
          <p:cNvPr id="15" name="metric-d3">
            <a:extLst>
              <a:ext uri="{FF2B5EF4-FFF2-40B4-BE49-F238E27FC236}">
                <a16:creationId xmlns:a16="http://schemas.microsoft.com/office/drawing/2014/main" id="{983DDE88-CF7C-4ECB-96DC-FC4ACF488929}"/>
              </a:ext>
            </a:extLst>
          </p:cNvPr>
          <p:cNvSpPr>
            <a:spLocks noGrp="1"/>
          </p:cNvSpPr>
          <p:nvPr/>
        </p:nvSpPr>
        <p:spPr>
          <a:xfrm>
            <a:off x="6534150" y="3619500"/>
            <a:ext cx="2095500" cy="666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每位玩家
初始筹码</a:t>
            </a:r>
          </a:p>
        </p:txBody>
      </p:sp>
      <p:sp>
        <p:nvSpPr>
          <p:cNvPr id="16" name="metric-d4">
            <a:extLst>
              <a:ext uri="{FF2B5EF4-FFF2-40B4-BE49-F238E27FC236}">
                <a16:creationId xmlns:a16="http://schemas.microsoft.com/office/drawing/2014/main" id="{D8F105B2-4D37-495E-9D76-5C92C68EE23F}"/>
              </a:ext>
            </a:extLst>
          </p:cNvPr>
          <p:cNvSpPr>
            <a:spLocks noGrp="1"/>
          </p:cNvSpPr>
          <p:nvPr/>
        </p:nvSpPr>
        <p:spPr>
          <a:xfrm>
            <a:off x="9477375" y="3619500"/>
            <a:ext cx="2095500" cy="666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项扩展能力
形成完整闭环</a:t>
            </a:r>
          </a:p>
        </p:txBody>
      </p:sp>
      <p:sp>
        <p:nvSpPr>
          <p:cNvPr id="17" name="scope-bottom">
            <a:extLst>
              <a:ext uri="{FF2B5EF4-FFF2-40B4-BE49-F238E27FC236}">
                <a16:creationId xmlns:a16="http://schemas.microsoft.com/office/drawing/2014/main" id="{CB87EB7D-FB4B-4297-8960-4D8F4FBB801E}"/>
              </a:ext>
            </a:extLst>
          </p:cNvPr>
          <p:cNvSpPr>
            <a:spLocks noGrp="1"/>
          </p:cNvSpPr>
          <p:nvPr/>
        </p:nvSpPr>
        <p:spPr>
          <a:xfrm>
            <a:off x="0" y="5391150"/>
            <a:ext cx="12192000" cy="1466850"/>
          </a:xfrm>
          <a:prstGeom prst="rect">
            <a:avLst/>
          </a:prstGeom>
          <a:solidFill>
            <a:srgbClr val="F2F2F2"/>
          </a:solidFill>
        </p:spPr>
      </p:sp>
      <p:sp>
        <p:nvSpPr>
          <p:cNvPr id="18" name="scope-bottom-copy">
            <a:extLst>
              <a:ext uri="{FF2B5EF4-FFF2-40B4-BE49-F238E27FC236}">
                <a16:creationId xmlns:a16="http://schemas.microsoft.com/office/drawing/2014/main" id="{57103C87-EEB2-4207-B88A-48043D05D4A8}"/>
              </a:ext>
            </a:extLst>
          </p:cNvPr>
          <p:cNvSpPr>
            <a:spLocks noGrp="1"/>
          </p:cNvSpPr>
          <p:nvPr/>
        </p:nvSpPr>
        <p:spPr>
          <a:xfrm>
            <a:off x="400050" y="5676900"/>
            <a:ext cx="10668000" cy="4572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规则完整  +  状态可追踪  +  输入可校验</a:t>
            </a:r>
          </a:p>
        </p:txBody>
      </p:sp>
      <p:sp>
        <p:nvSpPr>
          <p:cNvPr id="20" name="footer-page-2">
            <a:extLst>
              <a:ext uri="{FF2B5EF4-FFF2-40B4-BE49-F238E27FC236}">
                <a16:creationId xmlns:a16="http://schemas.microsoft.com/office/drawing/2014/main" id="{D5475689-9333-44F9-BC5D-F0EC02556CD2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r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100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kicker-3">
            <a:extLst>
              <a:ext uri="{FF2B5EF4-FFF2-40B4-BE49-F238E27FC236}">
                <a16:creationId xmlns:a16="http://schemas.microsoft.com/office/drawing/2014/main" id="{91B86993-98E0-442E-821F-28CC47915CBA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048000" cy="2095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l">
              <a:defRPr sz="10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ROUND FLOW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B015FD88-BF2B-4088-B2BD-C1256BB2D69C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81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一局游戏由下注开始，以结算与存档闭环</a:t>
            </a:r>
          </a:p>
        </p:txBody>
      </p:sp>
      <p:sp>
        <p:nvSpPr>
          <p:cNvPr id="3" name="title-rule-3">
            <a:extLst>
              <a:ext uri="{FF2B5EF4-FFF2-40B4-BE49-F238E27FC236}">
                <a16:creationId xmlns:a16="http://schemas.microsoft.com/office/drawing/2014/main" id="{1F5137F5-59B0-40F4-93C0-2EA54B14455B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914400" cy="47625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flow-line">
            <a:extLst>
              <a:ext uri="{FF2B5EF4-FFF2-40B4-BE49-F238E27FC236}">
                <a16:creationId xmlns:a16="http://schemas.microsoft.com/office/drawing/2014/main" id="{10542E46-5BDA-4F5B-AB5C-1BB6C482B0A8}"/>
              </a:ext>
            </a:extLst>
          </p:cNvPr>
          <p:cNvSpPr>
            <a:spLocks noGrp="1"/>
          </p:cNvSpPr>
          <p:nvPr/>
        </p:nvSpPr>
        <p:spPr>
          <a:xfrm>
            <a:off x="1181100" y="2895600"/>
            <a:ext cx="9715500" cy="38100"/>
          </a:xfrm>
          <a:prstGeom prst="rect">
            <a:avLst/>
          </a:prstGeom>
          <a:solidFill>
            <a:srgbClr val="B8BCC4"/>
          </a:solidFill>
        </p:spPr>
      </p:sp>
      <p:sp>
        <p:nvSpPr>
          <p:cNvPr id="5" name="step-dot-0">
            <a:extLst>
              <a:ext uri="{FF2B5EF4-FFF2-40B4-BE49-F238E27FC236}">
                <a16:creationId xmlns:a16="http://schemas.microsoft.com/office/drawing/2014/main" id="{A542570A-7AA2-477B-8711-D529870CCC9B}"/>
              </a:ext>
            </a:extLst>
          </p:cNvPr>
          <p:cNvSpPr>
            <a:spLocks noGrp="1"/>
          </p:cNvSpPr>
          <p:nvPr/>
        </p:nvSpPr>
        <p:spPr>
          <a:xfrm>
            <a:off x="1133475" y="2647950"/>
            <a:ext cx="514350" cy="514350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step-num-0">
            <a:extLst>
              <a:ext uri="{FF2B5EF4-FFF2-40B4-BE49-F238E27FC236}">
                <a16:creationId xmlns:a16="http://schemas.microsoft.com/office/drawing/2014/main" id="{F504907C-E254-4582-A8EF-D2E8120C2DFF}"/>
              </a:ext>
            </a:extLst>
          </p:cNvPr>
          <p:cNvSpPr>
            <a:spLocks noGrp="1"/>
          </p:cNvSpPr>
          <p:nvPr/>
        </p:nvSpPr>
        <p:spPr>
          <a:xfrm>
            <a:off x="1133475" y="2724150"/>
            <a:ext cx="514350" cy="3238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step-title-0">
            <a:extLst>
              <a:ext uri="{FF2B5EF4-FFF2-40B4-BE49-F238E27FC236}">
                <a16:creationId xmlns:a16="http://schemas.microsoft.com/office/drawing/2014/main" id="{E1A9FA33-D666-4A23-AB17-1626477ACD0C}"/>
              </a:ext>
            </a:extLst>
          </p:cNvPr>
          <p:cNvSpPr>
            <a:spLocks noGrp="1"/>
          </p:cNvSpPr>
          <p:nvPr/>
        </p:nvSpPr>
        <p:spPr>
          <a:xfrm>
            <a:off x="523875" y="3390900"/>
            <a:ext cx="1733550" cy="3619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载入玩家</a:t>
            </a:r>
          </a:p>
        </p:txBody>
      </p:sp>
      <p:sp>
        <p:nvSpPr>
          <p:cNvPr id="8" name="step-body-0">
            <a:extLst>
              <a:ext uri="{FF2B5EF4-FFF2-40B4-BE49-F238E27FC236}">
                <a16:creationId xmlns:a16="http://schemas.microsoft.com/office/drawing/2014/main" id="{F37D2C55-75EE-4690-8983-DA6C3CF64F9B}"/>
              </a:ext>
            </a:extLst>
          </p:cNvPr>
          <p:cNvSpPr>
            <a:spLocks noGrp="1"/>
          </p:cNvSpPr>
          <p:nvPr/>
        </p:nvSpPr>
        <p:spPr>
          <a:xfrm>
            <a:off x="523875" y="3886200"/>
            <a:ext cx="1733550" cy="704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读取存档或创建 2–4 名玩家</a:t>
            </a:r>
          </a:p>
        </p:txBody>
      </p:sp>
      <p:sp>
        <p:nvSpPr>
          <p:cNvPr id="9" name="step-dot-1">
            <a:extLst>
              <a:ext uri="{FF2B5EF4-FFF2-40B4-BE49-F238E27FC236}">
                <a16:creationId xmlns:a16="http://schemas.microsoft.com/office/drawing/2014/main" id="{60FDF470-68B5-4362-A95A-C6A7D88FA3A8}"/>
              </a:ext>
            </a:extLst>
          </p:cNvPr>
          <p:cNvSpPr>
            <a:spLocks noGrp="1"/>
          </p:cNvSpPr>
          <p:nvPr/>
        </p:nvSpPr>
        <p:spPr>
          <a:xfrm>
            <a:off x="3457575" y="2647950"/>
            <a:ext cx="514350" cy="514350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10" name="step-num-1">
            <a:extLst>
              <a:ext uri="{FF2B5EF4-FFF2-40B4-BE49-F238E27FC236}">
                <a16:creationId xmlns:a16="http://schemas.microsoft.com/office/drawing/2014/main" id="{EB7F8A51-357E-4C99-B7FB-FE845BBD456B}"/>
              </a:ext>
            </a:extLst>
          </p:cNvPr>
          <p:cNvSpPr>
            <a:spLocks noGrp="1"/>
          </p:cNvSpPr>
          <p:nvPr/>
        </p:nvSpPr>
        <p:spPr>
          <a:xfrm>
            <a:off x="3457575" y="2724150"/>
            <a:ext cx="514350" cy="3238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step-title-1">
            <a:extLst>
              <a:ext uri="{FF2B5EF4-FFF2-40B4-BE49-F238E27FC236}">
                <a16:creationId xmlns:a16="http://schemas.microsoft.com/office/drawing/2014/main" id="{AA2A8959-9C26-4875-9102-FC6B17047FFB}"/>
              </a:ext>
            </a:extLst>
          </p:cNvPr>
          <p:cNvSpPr>
            <a:spLocks noGrp="1"/>
          </p:cNvSpPr>
          <p:nvPr/>
        </p:nvSpPr>
        <p:spPr>
          <a:xfrm>
            <a:off x="2847975" y="3390900"/>
            <a:ext cx="1733550" cy="3619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下注发牌</a:t>
            </a:r>
          </a:p>
        </p:txBody>
      </p:sp>
      <p:sp>
        <p:nvSpPr>
          <p:cNvPr id="12" name="step-body-1">
            <a:extLst>
              <a:ext uri="{FF2B5EF4-FFF2-40B4-BE49-F238E27FC236}">
                <a16:creationId xmlns:a16="http://schemas.microsoft.com/office/drawing/2014/main" id="{6EC6776F-0CA7-4081-B0E6-92C08D43DE41}"/>
              </a:ext>
            </a:extLst>
          </p:cNvPr>
          <p:cNvSpPr>
            <a:spLocks noGrp="1"/>
          </p:cNvSpPr>
          <p:nvPr/>
        </p:nvSpPr>
        <p:spPr>
          <a:xfrm>
            <a:off x="2847975" y="3886200"/>
            <a:ext cx="1733550" cy="704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扣除赌注并交替发出两张牌</a:t>
            </a:r>
          </a:p>
        </p:txBody>
      </p:sp>
      <p:sp>
        <p:nvSpPr>
          <p:cNvPr id="13" name="step-dot-2">
            <a:extLst>
              <a:ext uri="{FF2B5EF4-FFF2-40B4-BE49-F238E27FC236}">
                <a16:creationId xmlns:a16="http://schemas.microsoft.com/office/drawing/2014/main" id="{F20318A6-0611-4687-AE5B-A46C83B81A75}"/>
              </a:ext>
            </a:extLst>
          </p:cNvPr>
          <p:cNvSpPr>
            <a:spLocks noGrp="1"/>
          </p:cNvSpPr>
          <p:nvPr/>
        </p:nvSpPr>
        <p:spPr>
          <a:xfrm>
            <a:off x="5781675" y="2647950"/>
            <a:ext cx="514350" cy="514350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14" name="step-num-2">
            <a:extLst>
              <a:ext uri="{FF2B5EF4-FFF2-40B4-BE49-F238E27FC236}">
                <a16:creationId xmlns:a16="http://schemas.microsoft.com/office/drawing/2014/main" id="{9F0ED747-F73F-40FF-AD01-FE1870ABF575}"/>
              </a:ext>
            </a:extLst>
          </p:cNvPr>
          <p:cNvSpPr>
            <a:spLocks noGrp="1"/>
          </p:cNvSpPr>
          <p:nvPr/>
        </p:nvSpPr>
        <p:spPr>
          <a:xfrm>
            <a:off x="5781675" y="2724150"/>
            <a:ext cx="514350" cy="3238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68F89BB3-4346-416F-BDD7-083AFA42D010}"/>
              </a:ext>
            </a:extLst>
          </p:cNvPr>
          <p:cNvSpPr>
            <a:spLocks noGrp="1"/>
          </p:cNvSpPr>
          <p:nvPr/>
        </p:nvSpPr>
        <p:spPr>
          <a:xfrm>
            <a:off x="5172075" y="3390900"/>
            <a:ext cx="1733550" cy="3619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玩家决策</a:t>
            </a:r>
          </a:p>
        </p:txBody>
      </p:sp>
      <p:sp>
        <p:nvSpPr>
          <p:cNvPr id="16" name="step-body-2">
            <a:extLst>
              <a:ext uri="{FF2B5EF4-FFF2-40B4-BE49-F238E27FC236}">
                <a16:creationId xmlns:a16="http://schemas.microsoft.com/office/drawing/2014/main" id="{156275C3-793A-4DF3-A74F-13C5F16543C0}"/>
              </a:ext>
            </a:extLst>
          </p:cNvPr>
          <p:cNvSpPr>
            <a:spLocks noGrp="1"/>
          </p:cNvSpPr>
          <p:nvPr/>
        </p:nvSpPr>
        <p:spPr>
          <a:xfrm>
            <a:off x="5172075" y="3886200"/>
            <a:ext cx="1733550" cy="704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要牌、停牌、分牌或加倍</a:t>
            </a:r>
          </a:p>
        </p:txBody>
      </p:sp>
      <p:sp>
        <p:nvSpPr>
          <p:cNvPr id="17" name="step-dot-3">
            <a:extLst>
              <a:ext uri="{FF2B5EF4-FFF2-40B4-BE49-F238E27FC236}">
                <a16:creationId xmlns:a16="http://schemas.microsoft.com/office/drawing/2014/main" id="{E1809820-F8C6-4F5C-87F9-944A7F6B1A81}"/>
              </a:ext>
            </a:extLst>
          </p:cNvPr>
          <p:cNvSpPr>
            <a:spLocks noGrp="1"/>
          </p:cNvSpPr>
          <p:nvPr/>
        </p:nvSpPr>
        <p:spPr>
          <a:xfrm>
            <a:off x="8105775" y="2647950"/>
            <a:ext cx="514350" cy="514350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18" name="step-num-3">
            <a:extLst>
              <a:ext uri="{FF2B5EF4-FFF2-40B4-BE49-F238E27FC236}">
                <a16:creationId xmlns:a16="http://schemas.microsoft.com/office/drawing/2014/main" id="{BB624BA8-49B5-493C-95EA-500236816BC9}"/>
              </a:ext>
            </a:extLst>
          </p:cNvPr>
          <p:cNvSpPr>
            <a:spLocks noGrp="1"/>
          </p:cNvSpPr>
          <p:nvPr/>
        </p:nvSpPr>
        <p:spPr>
          <a:xfrm>
            <a:off x="8105775" y="2724150"/>
            <a:ext cx="514350" cy="3238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9" name="step-title-3">
            <a:extLst>
              <a:ext uri="{FF2B5EF4-FFF2-40B4-BE49-F238E27FC236}">
                <a16:creationId xmlns:a16="http://schemas.microsoft.com/office/drawing/2014/main" id="{1AAE65DA-581E-46C9-9089-91764C0A7644}"/>
              </a:ext>
            </a:extLst>
          </p:cNvPr>
          <p:cNvSpPr>
            <a:spLocks noGrp="1"/>
          </p:cNvSpPr>
          <p:nvPr/>
        </p:nvSpPr>
        <p:spPr>
          <a:xfrm>
            <a:off x="7496175" y="3390900"/>
            <a:ext cx="1733550" cy="3619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庄家行动</a:t>
            </a:r>
          </a:p>
        </p:txBody>
      </p:sp>
      <p:sp>
        <p:nvSpPr>
          <p:cNvPr id="20" name="step-body-3">
            <a:extLst>
              <a:ext uri="{FF2B5EF4-FFF2-40B4-BE49-F238E27FC236}">
                <a16:creationId xmlns:a16="http://schemas.microsoft.com/office/drawing/2014/main" id="{2B5CBAC4-821C-4EBD-85D6-947D2C2DE85E}"/>
              </a:ext>
            </a:extLst>
          </p:cNvPr>
          <p:cNvSpPr>
            <a:spLocks noGrp="1"/>
          </p:cNvSpPr>
          <p:nvPr/>
        </p:nvSpPr>
        <p:spPr>
          <a:xfrm>
            <a:off x="7496175" y="3886200"/>
            <a:ext cx="1733550" cy="704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点数不足 17 时自动补牌</a:t>
            </a:r>
          </a:p>
        </p:txBody>
      </p:sp>
      <p:sp>
        <p:nvSpPr>
          <p:cNvPr id="21" name="step-dot-4">
            <a:extLst>
              <a:ext uri="{FF2B5EF4-FFF2-40B4-BE49-F238E27FC236}">
                <a16:creationId xmlns:a16="http://schemas.microsoft.com/office/drawing/2014/main" id="{50646FE8-1F19-4575-8174-A0CAFB42D6DC}"/>
              </a:ext>
            </a:extLst>
          </p:cNvPr>
          <p:cNvSpPr>
            <a:spLocks noGrp="1"/>
          </p:cNvSpPr>
          <p:nvPr/>
        </p:nvSpPr>
        <p:spPr>
          <a:xfrm>
            <a:off x="10429875" y="2647950"/>
            <a:ext cx="514350" cy="514350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22" name="step-num-4">
            <a:extLst>
              <a:ext uri="{FF2B5EF4-FFF2-40B4-BE49-F238E27FC236}">
                <a16:creationId xmlns:a16="http://schemas.microsoft.com/office/drawing/2014/main" id="{90683321-C78E-4788-A49A-1F5C46FD8FF2}"/>
              </a:ext>
            </a:extLst>
          </p:cNvPr>
          <p:cNvSpPr>
            <a:spLocks noGrp="1"/>
          </p:cNvSpPr>
          <p:nvPr/>
        </p:nvSpPr>
        <p:spPr>
          <a:xfrm>
            <a:off x="10429875" y="2724150"/>
            <a:ext cx="514350" cy="3238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3" name="step-title-4">
            <a:extLst>
              <a:ext uri="{FF2B5EF4-FFF2-40B4-BE49-F238E27FC236}">
                <a16:creationId xmlns:a16="http://schemas.microsoft.com/office/drawing/2014/main" id="{98412EC7-4CDC-47D6-9446-68FF846EE0FA}"/>
              </a:ext>
            </a:extLst>
          </p:cNvPr>
          <p:cNvSpPr>
            <a:spLocks noGrp="1"/>
          </p:cNvSpPr>
          <p:nvPr/>
        </p:nvSpPr>
        <p:spPr>
          <a:xfrm>
            <a:off x="9820275" y="3390900"/>
            <a:ext cx="1733550" cy="3619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结算存档</a:t>
            </a:r>
          </a:p>
        </p:txBody>
      </p:sp>
      <p:sp>
        <p:nvSpPr>
          <p:cNvPr id="24" name="step-body-4">
            <a:extLst>
              <a:ext uri="{FF2B5EF4-FFF2-40B4-BE49-F238E27FC236}">
                <a16:creationId xmlns:a16="http://schemas.microsoft.com/office/drawing/2014/main" id="{8285CA05-6E90-4170-A100-4806DDF61B13}"/>
              </a:ext>
            </a:extLst>
          </p:cNvPr>
          <p:cNvSpPr>
            <a:spLocks noGrp="1"/>
          </p:cNvSpPr>
          <p:nvPr/>
        </p:nvSpPr>
        <p:spPr>
          <a:xfrm>
            <a:off x="9820275" y="3886200"/>
            <a:ext cx="1733550" cy="704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更新筹码、战绩与牌面频率</a:t>
            </a:r>
          </a:p>
        </p:txBody>
      </p:sp>
      <p:sp>
        <p:nvSpPr>
          <p:cNvPr id="25" name="flow-bottom">
            <a:extLst>
              <a:ext uri="{FF2B5EF4-FFF2-40B4-BE49-F238E27FC236}">
                <a16:creationId xmlns:a16="http://schemas.microsoft.com/office/drawing/2014/main" id="{E5F5BC28-BE9B-45F9-885B-48915376946A}"/>
              </a:ext>
            </a:extLst>
          </p:cNvPr>
          <p:cNvSpPr>
            <a:spLocks noGrp="1"/>
          </p:cNvSpPr>
          <p:nvPr/>
        </p:nvSpPr>
        <p:spPr>
          <a:xfrm>
            <a:off x="0" y="5219700"/>
            <a:ext cx="12192000" cy="16383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6" name="flow-rule1">
            <a:extLst>
              <a:ext uri="{FF2B5EF4-FFF2-40B4-BE49-F238E27FC236}">
                <a16:creationId xmlns:a16="http://schemas.microsoft.com/office/drawing/2014/main" id="{3CFE2C5D-D848-4674-8196-02565A46668A}"/>
              </a:ext>
            </a:extLst>
          </p:cNvPr>
          <p:cNvSpPr>
            <a:spLocks noGrp="1"/>
          </p:cNvSpPr>
          <p:nvPr/>
        </p:nvSpPr>
        <p:spPr>
          <a:xfrm>
            <a:off x="666750" y="5524500"/>
            <a:ext cx="1619250" cy="285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玩家阶段</a:t>
            </a:r>
          </a:p>
        </p:txBody>
      </p:sp>
      <p:sp>
        <p:nvSpPr>
          <p:cNvPr id="27" name="flow-rule1-body">
            <a:extLst>
              <a:ext uri="{FF2B5EF4-FFF2-40B4-BE49-F238E27FC236}">
                <a16:creationId xmlns:a16="http://schemas.microsoft.com/office/drawing/2014/main" id="{0463C840-EC54-4BFF-A6F3-24C219DFB8E1}"/>
              </a:ext>
            </a:extLst>
          </p:cNvPr>
          <p:cNvSpPr>
            <a:spLocks noGrp="1"/>
          </p:cNvSpPr>
          <p:nvPr/>
        </p:nvSpPr>
        <p:spPr>
          <a:xfrm>
            <a:off x="2286000" y="5486400"/>
            <a:ext cx="4000500" cy="4381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操作选项由当前手牌与剩余筹码动态决定。</a:t>
            </a:r>
          </a:p>
        </p:txBody>
      </p:sp>
      <p:sp>
        <p:nvSpPr>
          <p:cNvPr id="28" name="flow-rule2">
            <a:extLst>
              <a:ext uri="{FF2B5EF4-FFF2-40B4-BE49-F238E27FC236}">
                <a16:creationId xmlns:a16="http://schemas.microsoft.com/office/drawing/2014/main" id="{CC908767-74E4-4D49-BD75-1242F2E933B0}"/>
              </a:ext>
            </a:extLst>
          </p:cNvPr>
          <p:cNvSpPr>
            <a:spLocks noGrp="1"/>
          </p:cNvSpPr>
          <p:nvPr/>
        </p:nvSpPr>
        <p:spPr>
          <a:xfrm>
            <a:off x="6667500" y="5524500"/>
            <a:ext cx="1619250" cy="285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庄家阶段</a:t>
            </a:r>
          </a:p>
        </p:txBody>
      </p:sp>
      <p:sp>
        <p:nvSpPr>
          <p:cNvPr id="29" name="flow-rule2-body">
            <a:extLst>
              <a:ext uri="{FF2B5EF4-FFF2-40B4-BE49-F238E27FC236}">
                <a16:creationId xmlns:a16="http://schemas.microsoft.com/office/drawing/2014/main" id="{C68B0EC6-E30A-4207-BA83-340905AB637F}"/>
              </a:ext>
            </a:extLst>
          </p:cNvPr>
          <p:cNvSpPr>
            <a:spLocks noGrp="1"/>
          </p:cNvSpPr>
          <p:nvPr/>
        </p:nvSpPr>
        <p:spPr>
          <a:xfrm>
            <a:off x="8286750" y="5486400"/>
            <a:ext cx="3333750" cy="4381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所有有效玩家完成后，庄家按规则自动行动。</a:t>
            </a:r>
          </a:p>
        </p:txBody>
      </p:sp>
      <p:sp>
        <p:nvSpPr>
          <p:cNvPr id="31" name="footer-page-3">
            <a:extLst>
              <a:ext uri="{FF2B5EF4-FFF2-40B4-BE49-F238E27FC236}">
                <a16:creationId xmlns:a16="http://schemas.microsoft.com/office/drawing/2014/main" id="{9BED9855-2D8E-4510-A2D9-53388F166DA3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r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3590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kicker-4">
            <a:extLst>
              <a:ext uri="{FF2B5EF4-FFF2-40B4-BE49-F238E27FC236}">
                <a16:creationId xmlns:a16="http://schemas.microsoft.com/office/drawing/2014/main" id="{91E6A57E-050A-4A23-8236-A32B991D61B0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048000" cy="2095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l">
              <a:defRPr sz="10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ARCHITECTURE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2C061C98-5990-4146-96DA-56211824DA1D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81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代码按“对象—规则—流程—数据”分层</a:t>
            </a: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B2FB341F-B77A-414D-B99A-2724B4064DAC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914400" cy="47625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arch-lead">
            <a:extLst>
              <a:ext uri="{FF2B5EF4-FFF2-40B4-BE49-F238E27FC236}">
                <a16:creationId xmlns:a16="http://schemas.microsoft.com/office/drawing/2014/main" id="{ABE8E1A8-6151-4F0F-BD7C-0536FB309EBB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8286750" cy="428625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每一层只处理一类问题，使复杂规则可以逐步增加，而不必重写整个程序。</a:t>
            </a:r>
          </a:p>
        </p:txBody>
      </p:sp>
      <p:sp>
        <p:nvSpPr>
          <p:cNvPr id="5" name="arch-link">
            <a:extLst>
              <a:ext uri="{FF2B5EF4-FFF2-40B4-BE49-F238E27FC236}">
                <a16:creationId xmlns:a16="http://schemas.microsoft.com/office/drawing/2014/main" id="{9501B4EA-CCA9-4EB7-B8C8-73EC2BA9816A}"/>
              </a:ext>
            </a:extLst>
          </p:cNvPr>
          <p:cNvSpPr>
            <a:spLocks noGrp="1"/>
          </p:cNvSpPr>
          <p:nvPr/>
        </p:nvSpPr>
        <p:spPr>
          <a:xfrm>
            <a:off x="1143000" y="3429000"/>
            <a:ext cx="9906000" cy="38100"/>
          </a:xfrm>
          <a:prstGeom prst="rect">
            <a:avLst/>
          </a:prstGeom>
          <a:solidFill>
            <a:srgbClr val="B8BCC4"/>
          </a:solidFill>
        </p:spPr>
      </p:sp>
      <p:sp>
        <p:nvSpPr>
          <p:cNvPr id="6" name="arch-box-0">
            <a:extLst>
              <a:ext uri="{FF2B5EF4-FFF2-40B4-BE49-F238E27FC236}">
                <a16:creationId xmlns:a16="http://schemas.microsoft.com/office/drawing/2014/main" id="{761CBFE1-2BFB-40AE-AAE3-74D04627167C}"/>
              </a:ext>
            </a:extLst>
          </p:cNvPr>
          <p:cNvSpPr>
            <a:spLocks noGrp="1"/>
          </p:cNvSpPr>
          <p:nvPr/>
        </p:nvSpPr>
        <p:spPr>
          <a:xfrm>
            <a:off x="400050" y="2571750"/>
            <a:ext cx="2571750" cy="2686050"/>
          </a:xfrm>
          <a:prstGeom prst="roundRect">
            <a:avLst>
              <a:gd name="adj" fmla="val 2963"/>
            </a:avLst>
          </a:prstGeom>
          <a:solidFill>
            <a:srgbClr val="EDEDED"/>
          </a:solidFill>
        </p:spPr>
      </p:sp>
      <p:sp>
        <p:nvSpPr>
          <p:cNvPr id="7" name="arch-top-0">
            <a:extLst>
              <a:ext uri="{FF2B5EF4-FFF2-40B4-BE49-F238E27FC236}">
                <a16:creationId xmlns:a16="http://schemas.microsoft.com/office/drawing/2014/main" id="{7EF3DFDB-5FB6-4EA2-AFCF-E29FAF3B0656}"/>
              </a:ext>
            </a:extLst>
          </p:cNvPr>
          <p:cNvSpPr>
            <a:spLocks noGrp="1"/>
          </p:cNvSpPr>
          <p:nvPr/>
        </p:nvSpPr>
        <p:spPr>
          <a:xfrm>
            <a:off x="400050" y="2571750"/>
            <a:ext cx="2571750" cy="762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arch-layer-0">
            <a:extLst>
              <a:ext uri="{FF2B5EF4-FFF2-40B4-BE49-F238E27FC236}">
                <a16:creationId xmlns:a16="http://schemas.microsoft.com/office/drawing/2014/main" id="{AB5DC360-2325-4684-B204-2FC5FAA78E97}"/>
              </a:ext>
            </a:extLst>
          </p:cNvPr>
          <p:cNvSpPr>
            <a:spLocks noGrp="1"/>
          </p:cNvSpPr>
          <p:nvPr/>
        </p:nvSpPr>
        <p:spPr>
          <a:xfrm>
            <a:off x="628650" y="2857500"/>
            <a:ext cx="2114550" cy="3048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对象层</a:t>
            </a:r>
          </a:p>
        </p:txBody>
      </p:sp>
      <p:sp>
        <p:nvSpPr>
          <p:cNvPr id="9" name="arch-name-0">
            <a:extLst>
              <a:ext uri="{FF2B5EF4-FFF2-40B4-BE49-F238E27FC236}">
                <a16:creationId xmlns:a16="http://schemas.microsoft.com/office/drawing/2014/main" id="{0585DF0D-3B1E-4123-99DC-7F0AF14A2FB3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2114550" cy="4953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Card / Deck</a:t>
            </a:r>
          </a:p>
        </p:txBody>
      </p:sp>
      <p:sp>
        <p:nvSpPr>
          <p:cNvPr id="10" name="arch-body-0">
            <a:extLst>
              <a:ext uri="{FF2B5EF4-FFF2-40B4-BE49-F238E27FC236}">
                <a16:creationId xmlns:a16="http://schemas.microsoft.com/office/drawing/2014/main" id="{B8D7DA02-3D75-45A2-B4AC-A9A7C5459346}"/>
              </a:ext>
            </a:extLst>
          </p:cNvPr>
          <p:cNvSpPr>
            <a:spLocks noGrp="1"/>
          </p:cNvSpPr>
          <p:nvPr/>
        </p:nvSpPr>
        <p:spPr>
          <a:xfrm>
            <a:off x="628650" y="4171950"/>
            <a:ext cx="2114550" cy="7429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保存牌面
生成与发牌</a:t>
            </a:r>
          </a:p>
        </p:txBody>
      </p:sp>
      <p:sp>
        <p:nvSpPr>
          <p:cNvPr id="11" name="arch-box-1">
            <a:extLst>
              <a:ext uri="{FF2B5EF4-FFF2-40B4-BE49-F238E27FC236}">
                <a16:creationId xmlns:a16="http://schemas.microsoft.com/office/drawing/2014/main" id="{BCEE3055-5629-4A00-9B08-4283C5250466}"/>
              </a:ext>
            </a:extLst>
          </p:cNvPr>
          <p:cNvSpPr>
            <a:spLocks noGrp="1"/>
          </p:cNvSpPr>
          <p:nvPr/>
        </p:nvSpPr>
        <p:spPr>
          <a:xfrm>
            <a:off x="3343275" y="2571750"/>
            <a:ext cx="2571750" cy="2686050"/>
          </a:xfrm>
          <a:prstGeom prst="roundRect">
            <a:avLst>
              <a:gd name="adj" fmla="val 2963"/>
            </a:avLst>
          </a:prstGeom>
          <a:solidFill>
            <a:srgbClr val="EDEDED"/>
          </a:solidFill>
        </p:spPr>
      </p:sp>
      <p:sp>
        <p:nvSpPr>
          <p:cNvPr id="12" name="arch-top-1">
            <a:extLst>
              <a:ext uri="{FF2B5EF4-FFF2-40B4-BE49-F238E27FC236}">
                <a16:creationId xmlns:a16="http://schemas.microsoft.com/office/drawing/2014/main" id="{7BCA573F-AECC-47DE-9F98-B12FD8E9D8F8}"/>
              </a:ext>
            </a:extLst>
          </p:cNvPr>
          <p:cNvSpPr>
            <a:spLocks noGrp="1"/>
          </p:cNvSpPr>
          <p:nvPr/>
        </p:nvSpPr>
        <p:spPr>
          <a:xfrm>
            <a:off x="3343275" y="2571750"/>
            <a:ext cx="2571750" cy="762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" name="arch-layer-1">
            <a:extLst>
              <a:ext uri="{FF2B5EF4-FFF2-40B4-BE49-F238E27FC236}">
                <a16:creationId xmlns:a16="http://schemas.microsoft.com/office/drawing/2014/main" id="{C4F2C868-5AF0-4B8B-BBBF-F58484C62127}"/>
              </a:ext>
            </a:extLst>
          </p:cNvPr>
          <p:cNvSpPr>
            <a:spLocks noGrp="1"/>
          </p:cNvSpPr>
          <p:nvPr/>
        </p:nvSpPr>
        <p:spPr>
          <a:xfrm>
            <a:off x="3571875" y="2857500"/>
            <a:ext cx="2114550" cy="3048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规则层</a:t>
            </a:r>
          </a:p>
        </p:txBody>
      </p:sp>
      <p:sp>
        <p:nvSpPr>
          <p:cNvPr id="14" name="arch-name-1">
            <a:extLst>
              <a:ext uri="{FF2B5EF4-FFF2-40B4-BE49-F238E27FC236}">
                <a16:creationId xmlns:a16="http://schemas.microsoft.com/office/drawing/2014/main" id="{6B24EC62-C6B8-4AE2-BE1E-EFEF57CD400C}"/>
              </a:ext>
            </a:extLst>
          </p:cNvPr>
          <p:cNvSpPr>
            <a:spLocks noGrp="1"/>
          </p:cNvSpPr>
          <p:nvPr/>
        </p:nvSpPr>
        <p:spPr>
          <a:xfrm>
            <a:off x="3571875" y="3333750"/>
            <a:ext cx="2114550" cy="4953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hand_value</a:t>
            </a:r>
          </a:p>
        </p:txBody>
      </p:sp>
      <p:sp>
        <p:nvSpPr>
          <p:cNvPr id="15" name="arch-body-1">
            <a:extLst>
              <a:ext uri="{FF2B5EF4-FFF2-40B4-BE49-F238E27FC236}">
                <a16:creationId xmlns:a16="http://schemas.microsoft.com/office/drawing/2014/main" id="{FA7F0392-1347-4662-B34B-E281AABE4BAE}"/>
              </a:ext>
            </a:extLst>
          </p:cNvPr>
          <p:cNvSpPr>
            <a:spLocks noGrp="1"/>
          </p:cNvSpPr>
          <p:nvPr/>
        </p:nvSpPr>
        <p:spPr>
          <a:xfrm>
            <a:off x="3571875" y="4171950"/>
            <a:ext cx="2114550" cy="7429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点数计算
胜负与策略</a:t>
            </a:r>
          </a:p>
        </p:txBody>
      </p:sp>
      <p:sp>
        <p:nvSpPr>
          <p:cNvPr id="16" name="arch-box-2">
            <a:extLst>
              <a:ext uri="{FF2B5EF4-FFF2-40B4-BE49-F238E27FC236}">
                <a16:creationId xmlns:a16="http://schemas.microsoft.com/office/drawing/2014/main" id="{8064FD37-30E8-4B5B-BD33-1798786F2BE5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2571750" cy="2686050"/>
          </a:xfrm>
          <a:prstGeom prst="roundRect">
            <a:avLst>
              <a:gd name="adj" fmla="val 2963"/>
            </a:avLst>
          </a:prstGeom>
          <a:solidFill>
            <a:srgbClr val="EDEDED"/>
          </a:solidFill>
        </p:spPr>
      </p:sp>
      <p:sp>
        <p:nvSpPr>
          <p:cNvPr id="17" name="arch-top-2">
            <a:extLst>
              <a:ext uri="{FF2B5EF4-FFF2-40B4-BE49-F238E27FC236}">
                <a16:creationId xmlns:a16="http://schemas.microsoft.com/office/drawing/2014/main" id="{22E24E93-76A8-49D0-AC51-0F06EFBCBEA4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2571750" cy="762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arch-layer-2">
            <a:extLst>
              <a:ext uri="{FF2B5EF4-FFF2-40B4-BE49-F238E27FC236}">
                <a16:creationId xmlns:a16="http://schemas.microsoft.com/office/drawing/2014/main" id="{E4572113-A2F2-4B1D-9B56-4E5AC4138729}"/>
              </a:ext>
            </a:extLst>
          </p:cNvPr>
          <p:cNvSpPr>
            <a:spLocks noGrp="1"/>
          </p:cNvSpPr>
          <p:nvPr/>
        </p:nvSpPr>
        <p:spPr>
          <a:xfrm>
            <a:off x="6515100" y="2857500"/>
            <a:ext cx="2114550" cy="3048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流程层</a:t>
            </a:r>
          </a:p>
        </p:txBody>
      </p:sp>
      <p:sp>
        <p:nvSpPr>
          <p:cNvPr id="19" name="arch-name-2">
            <a:extLst>
              <a:ext uri="{FF2B5EF4-FFF2-40B4-BE49-F238E27FC236}">
                <a16:creationId xmlns:a16="http://schemas.microsoft.com/office/drawing/2014/main" id="{C745233C-1BB8-4B98-9549-208EB50C8BEC}"/>
              </a:ext>
            </a:extLst>
          </p:cNvPr>
          <p:cNvSpPr>
            <a:spLocks noGrp="1"/>
          </p:cNvSpPr>
          <p:nvPr/>
        </p:nvSpPr>
        <p:spPr>
          <a:xfrm>
            <a:off x="6515100" y="3333750"/>
            <a:ext cx="2114550" cy="4953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play_round</a:t>
            </a:r>
          </a:p>
        </p:txBody>
      </p:sp>
      <p:sp>
        <p:nvSpPr>
          <p:cNvPr id="20" name="arch-body-2">
            <a:extLst>
              <a:ext uri="{FF2B5EF4-FFF2-40B4-BE49-F238E27FC236}">
                <a16:creationId xmlns:a16="http://schemas.microsoft.com/office/drawing/2014/main" id="{019BFC5A-2F75-44A0-BE76-D04BAAA69078}"/>
              </a:ext>
            </a:extLst>
          </p:cNvPr>
          <p:cNvSpPr>
            <a:spLocks noGrp="1"/>
          </p:cNvSpPr>
          <p:nvPr/>
        </p:nvSpPr>
        <p:spPr>
          <a:xfrm>
            <a:off x="6515100" y="4171950"/>
            <a:ext cx="2114550" cy="7429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组织轮次
控制玩家顺序</a:t>
            </a:r>
          </a:p>
        </p:txBody>
      </p:sp>
      <p:sp>
        <p:nvSpPr>
          <p:cNvPr id="21" name="arch-box-3">
            <a:extLst>
              <a:ext uri="{FF2B5EF4-FFF2-40B4-BE49-F238E27FC236}">
                <a16:creationId xmlns:a16="http://schemas.microsoft.com/office/drawing/2014/main" id="{4F8D1541-5971-429C-98DB-CB260FCF1389}"/>
              </a:ext>
            </a:extLst>
          </p:cNvPr>
          <p:cNvSpPr>
            <a:spLocks noGrp="1"/>
          </p:cNvSpPr>
          <p:nvPr/>
        </p:nvSpPr>
        <p:spPr>
          <a:xfrm>
            <a:off x="9229725" y="2571750"/>
            <a:ext cx="2571750" cy="2686050"/>
          </a:xfrm>
          <a:prstGeom prst="roundRect">
            <a:avLst>
              <a:gd name="adj" fmla="val 2963"/>
            </a:avLst>
          </a:prstGeom>
          <a:solidFill>
            <a:srgbClr val="E7E7E7"/>
          </a:solidFill>
        </p:spPr>
      </p:sp>
      <p:sp>
        <p:nvSpPr>
          <p:cNvPr id="22" name="arch-top-3">
            <a:extLst>
              <a:ext uri="{FF2B5EF4-FFF2-40B4-BE49-F238E27FC236}">
                <a16:creationId xmlns:a16="http://schemas.microsoft.com/office/drawing/2014/main" id="{66F7DB3A-D152-4F8E-BA87-5CEEDF98241A}"/>
              </a:ext>
            </a:extLst>
          </p:cNvPr>
          <p:cNvSpPr>
            <a:spLocks noGrp="1"/>
          </p:cNvSpPr>
          <p:nvPr/>
        </p:nvSpPr>
        <p:spPr>
          <a:xfrm>
            <a:off x="9229725" y="2571750"/>
            <a:ext cx="2571750" cy="762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23" name="arch-layer-3">
            <a:extLst>
              <a:ext uri="{FF2B5EF4-FFF2-40B4-BE49-F238E27FC236}">
                <a16:creationId xmlns:a16="http://schemas.microsoft.com/office/drawing/2014/main" id="{983D8D3C-DA16-4B63-BDAA-1B04EB1739E6}"/>
              </a:ext>
            </a:extLst>
          </p:cNvPr>
          <p:cNvSpPr>
            <a:spLocks noGrp="1"/>
          </p:cNvSpPr>
          <p:nvPr/>
        </p:nvSpPr>
        <p:spPr>
          <a:xfrm>
            <a:off x="9458325" y="2857500"/>
            <a:ext cx="2114550" cy="3048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数据层</a:t>
            </a:r>
          </a:p>
        </p:txBody>
      </p:sp>
      <p:sp>
        <p:nvSpPr>
          <p:cNvPr id="24" name="arch-name-3">
            <a:extLst>
              <a:ext uri="{FF2B5EF4-FFF2-40B4-BE49-F238E27FC236}">
                <a16:creationId xmlns:a16="http://schemas.microsoft.com/office/drawing/2014/main" id="{9EEC539F-4342-41F5-A98B-3972100D0C87}"/>
              </a:ext>
            </a:extLst>
          </p:cNvPr>
          <p:cNvSpPr>
            <a:spLocks noGrp="1"/>
          </p:cNvSpPr>
          <p:nvPr/>
        </p:nvSpPr>
        <p:spPr>
          <a:xfrm>
            <a:off x="9458325" y="3333750"/>
            <a:ext cx="2114550" cy="4953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JSON / dict</a:t>
            </a:r>
          </a:p>
        </p:txBody>
      </p:sp>
      <p:sp>
        <p:nvSpPr>
          <p:cNvPr id="25" name="arch-body-3">
            <a:extLst>
              <a:ext uri="{FF2B5EF4-FFF2-40B4-BE49-F238E27FC236}">
                <a16:creationId xmlns:a16="http://schemas.microsoft.com/office/drawing/2014/main" id="{C28DD980-F14A-439C-957C-245B58749B2E}"/>
              </a:ext>
            </a:extLst>
          </p:cNvPr>
          <p:cNvSpPr>
            <a:spLocks noGrp="1"/>
          </p:cNvSpPr>
          <p:nvPr/>
        </p:nvSpPr>
        <p:spPr>
          <a:xfrm>
            <a:off x="9458325" y="4171950"/>
            <a:ext cx="2114550" cy="7429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筹码战绩
统计与存档</a:t>
            </a:r>
          </a:p>
        </p:txBody>
      </p:sp>
      <p:sp>
        <p:nvSpPr>
          <p:cNvPr id="27" name="footer-page-4">
            <a:extLst>
              <a:ext uri="{FF2B5EF4-FFF2-40B4-BE49-F238E27FC236}">
                <a16:creationId xmlns:a16="http://schemas.microsoft.com/office/drawing/2014/main" id="{F8A5B190-0ED7-41E6-8CC2-60F114DD2FAC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r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918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kicker-5">
            <a:extLst>
              <a:ext uri="{FF2B5EF4-FFF2-40B4-BE49-F238E27FC236}">
                <a16:creationId xmlns:a16="http://schemas.microsoft.com/office/drawing/2014/main" id="{72F70743-C586-440C-B6C8-3ECEF7491DC6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048000" cy="2095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l">
              <a:defRPr sz="10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CORE OBJECTS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1BBE4519-6927-4F0A-96F9-509C55359D0B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81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Card 与 Deck </a:t>
            </a:r>
            <a:r>
              <a:rPr dirty="0" err="1"/>
              <a:t>把牌面和发牌职责收拢</a:t>
            </a:r>
            <a:endParaRPr dirty="0"/>
          </a:p>
        </p:txBody>
      </p:sp>
      <p:sp>
        <p:nvSpPr>
          <p:cNvPr id="3" name="title-rule-5">
            <a:extLst>
              <a:ext uri="{FF2B5EF4-FFF2-40B4-BE49-F238E27FC236}">
                <a16:creationId xmlns:a16="http://schemas.microsoft.com/office/drawing/2014/main" id="{67F9A85F-3AE3-416A-A5A0-C05DAF42F687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914400" cy="47625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code-bg">
            <a:extLst>
              <a:ext uri="{FF2B5EF4-FFF2-40B4-BE49-F238E27FC236}">
                <a16:creationId xmlns:a16="http://schemas.microsoft.com/office/drawing/2014/main" id="{50C474EE-12EE-4135-961B-78060184F196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5429250" cy="3876675"/>
          </a:xfrm>
          <a:prstGeom prst="roundRect">
            <a:avLst>
              <a:gd name="adj" fmla="val 1966"/>
            </a:avLst>
          </a:prstGeom>
          <a:solidFill>
            <a:srgbClr val="171717"/>
          </a:solidFill>
        </p:spPr>
      </p:sp>
      <p:sp>
        <p:nvSpPr>
          <p:cNvPr id="5" name="code-title">
            <a:extLst>
              <a:ext uri="{FF2B5EF4-FFF2-40B4-BE49-F238E27FC236}">
                <a16:creationId xmlns:a16="http://schemas.microsoft.com/office/drawing/2014/main" id="{07BF2A8C-4074-4D1C-984B-C933EDF47858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4762500" cy="2667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125" b="0">
                <a:solidFill>
                  <a:srgbClr val="AEB2B8"/>
                </a:solidFill>
                <a:latin typeface="Consolas"/>
                <a:ea typeface="Consolas"/>
                <a:cs typeface="Consolas"/>
              </a:defRPr>
            </a:pPr>
            <a:r>
              <a:t>blackjack.py · 核心对象</a:t>
            </a:r>
          </a:p>
        </p:txBody>
      </p:sp>
      <p:sp>
        <p:nvSpPr>
          <p:cNvPr id="6" name="code-copy">
            <a:extLst>
              <a:ext uri="{FF2B5EF4-FFF2-40B4-BE49-F238E27FC236}">
                <a16:creationId xmlns:a16="http://schemas.microsoft.com/office/drawing/2014/main" id="{D23C6895-FEA7-4EF7-9297-094C6CB45908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4762500" cy="28575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0">
                <a:solidFill>
                  <a:srgbClr val="F3F3F3"/>
                </a:solidFill>
                <a:latin typeface="Consolas"/>
                <a:ea typeface="Consolas"/>
                <a:cs typeface="Consolas"/>
              </a:defRPr>
            </a:pPr>
            <a:r>
              <a:t>class Card:
    def __init__(self, suit, rank):
        self.suit = suit
        self.rank = rank
    def get_value(self):
        if self.rank == "A":
            return 11
        if self.rank in ["J", "Q", "K"]:
            return 10
        return int(self.rank)</a:t>
            </a:r>
          </a:p>
        </p:txBody>
      </p:sp>
      <p:sp>
        <p:nvSpPr>
          <p:cNvPr id="7" name="obj-label-1">
            <a:extLst>
              <a:ext uri="{FF2B5EF4-FFF2-40B4-BE49-F238E27FC236}">
                <a16:creationId xmlns:a16="http://schemas.microsoft.com/office/drawing/2014/main" id="{0F2E03BF-4038-465B-B1D8-AE2D838B04D7}"/>
              </a:ext>
            </a:extLst>
          </p:cNvPr>
          <p:cNvSpPr>
            <a:spLocks noGrp="1"/>
          </p:cNvSpPr>
          <p:nvPr/>
        </p:nvSpPr>
        <p:spPr>
          <a:xfrm>
            <a:off x="6534150" y="1962150"/>
            <a:ext cx="15240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Consolas"/>
                <a:ea typeface="Consolas"/>
                <a:cs typeface="Consolas"/>
              </a:defRPr>
            </a:pPr>
            <a:r>
              <a:t>Card</a:t>
            </a:r>
          </a:p>
        </p:txBody>
      </p:sp>
      <p:sp>
        <p:nvSpPr>
          <p:cNvPr id="8" name="obj-body-1">
            <a:extLst>
              <a:ext uri="{FF2B5EF4-FFF2-40B4-BE49-F238E27FC236}">
                <a16:creationId xmlns:a16="http://schemas.microsoft.com/office/drawing/2014/main" id="{4B134A67-2CF1-414F-9DF8-6CBD3300A265}"/>
              </a:ext>
            </a:extLst>
          </p:cNvPr>
          <p:cNvSpPr>
            <a:spLocks noGrp="1"/>
          </p:cNvSpPr>
          <p:nvPr/>
        </p:nvSpPr>
        <p:spPr>
          <a:xfrm>
            <a:off x="8286750" y="1924050"/>
            <a:ext cx="3143250" cy="552450"/>
          </a:xfrm>
          <a:prstGeom prst="rect">
            <a:avLst/>
          </a:prstGeom>
        </p:spPr>
        <p:txBody>
          <a:bodyPr spcFirstLastPara="1" lIns="0" tIns="0" rIns="0" bIns="0" anchor="t">
            <a:normAutofit fontScale="96512"/>
          </a:bodyPr>
          <a:lstStyle/>
          <a:p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 suit 与 rank，并负责返回单张牌的基础点数。</a:t>
            </a:r>
          </a:p>
        </p:txBody>
      </p:sp>
      <p:sp>
        <p:nvSpPr>
          <p:cNvPr id="9" name="obj-label-2">
            <a:extLst>
              <a:ext uri="{FF2B5EF4-FFF2-40B4-BE49-F238E27FC236}">
                <a16:creationId xmlns:a16="http://schemas.microsoft.com/office/drawing/2014/main" id="{7D12E8B9-358F-46DB-8779-A199948A2B40}"/>
              </a:ext>
            </a:extLst>
          </p:cNvPr>
          <p:cNvSpPr>
            <a:spLocks noGrp="1"/>
          </p:cNvSpPr>
          <p:nvPr/>
        </p:nvSpPr>
        <p:spPr>
          <a:xfrm>
            <a:off x="6534150" y="2952750"/>
            <a:ext cx="15240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Consolas"/>
                <a:ea typeface="Consolas"/>
                <a:cs typeface="Consolas"/>
              </a:defRPr>
            </a:pPr>
            <a:r>
              <a:t>Deck</a:t>
            </a:r>
          </a:p>
        </p:txBody>
      </p:sp>
      <p:sp>
        <p:nvSpPr>
          <p:cNvPr id="10" name="obj-body-2">
            <a:extLst>
              <a:ext uri="{FF2B5EF4-FFF2-40B4-BE49-F238E27FC236}">
                <a16:creationId xmlns:a16="http://schemas.microsoft.com/office/drawing/2014/main" id="{8C2DD782-C256-452C-88DD-5C76D4E3C3EE}"/>
              </a:ext>
            </a:extLst>
          </p:cNvPr>
          <p:cNvSpPr>
            <a:spLocks noGrp="1"/>
          </p:cNvSpPr>
          <p:nvPr/>
        </p:nvSpPr>
        <p:spPr>
          <a:xfrm>
            <a:off x="8286750" y="2876550"/>
            <a:ext cx="3143250" cy="6286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双层循环生成 4 × 13 张牌；shuffle() 完成随机洗牌。</a:t>
            </a:r>
          </a:p>
        </p:txBody>
      </p:sp>
      <p:sp>
        <p:nvSpPr>
          <p:cNvPr id="11" name="obj-label-3">
            <a:extLst>
              <a:ext uri="{FF2B5EF4-FFF2-40B4-BE49-F238E27FC236}">
                <a16:creationId xmlns:a16="http://schemas.microsoft.com/office/drawing/2014/main" id="{55EB8AD3-0219-4C62-8A1E-EB849FF92B7E}"/>
              </a:ext>
            </a:extLst>
          </p:cNvPr>
          <p:cNvSpPr>
            <a:spLocks noGrp="1"/>
          </p:cNvSpPr>
          <p:nvPr/>
        </p:nvSpPr>
        <p:spPr>
          <a:xfrm>
            <a:off x="6534150" y="4038600"/>
            <a:ext cx="15240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Consolas"/>
                <a:ea typeface="Consolas"/>
                <a:cs typeface="Consolas"/>
              </a:defRPr>
            </a:pPr>
            <a:r>
              <a:t>deal()</a:t>
            </a:r>
          </a:p>
        </p:txBody>
      </p:sp>
      <p:sp>
        <p:nvSpPr>
          <p:cNvPr id="12" name="obj-body-3">
            <a:extLst>
              <a:ext uri="{FF2B5EF4-FFF2-40B4-BE49-F238E27FC236}">
                <a16:creationId xmlns:a16="http://schemas.microsoft.com/office/drawing/2014/main" id="{02CCF70C-2F79-45E1-80FF-881C8E935B93}"/>
              </a:ext>
            </a:extLst>
          </p:cNvPr>
          <p:cNvSpPr>
            <a:spLocks noGrp="1"/>
          </p:cNvSpPr>
          <p:nvPr/>
        </p:nvSpPr>
        <p:spPr>
          <a:xfrm>
            <a:off x="8286750" y="3962400"/>
            <a:ext cx="3143250" cy="6286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pop() 发出一张牌，同时累计对应 rank 的出现次数。</a:t>
            </a:r>
          </a:p>
        </p:txBody>
      </p:sp>
      <p:sp>
        <p:nvSpPr>
          <p:cNvPr id="13" name="obj-callout">
            <a:extLst>
              <a:ext uri="{FF2B5EF4-FFF2-40B4-BE49-F238E27FC236}">
                <a16:creationId xmlns:a16="http://schemas.microsoft.com/office/drawing/2014/main" id="{44D7B151-3077-4221-BCE3-F4A28410CE80}"/>
              </a:ext>
            </a:extLst>
          </p:cNvPr>
          <p:cNvSpPr>
            <a:spLocks noGrp="1"/>
          </p:cNvSpPr>
          <p:nvPr/>
        </p:nvSpPr>
        <p:spPr>
          <a:xfrm>
            <a:off x="6286500" y="4953000"/>
            <a:ext cx="5524500" cy="809625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4" name="obj-callout-text">
            <a:extLst>
              <a:ext uri="{FF2B5EF4-FFF2-40B4-BE49-F238E27FC236}">
                <a16:creationId xmlns:a16="http://schemas.microsoft.com/office/drawing/2014/main" id="{0C098EC8-8558-4585-A8D0-F89F18C83572}"/>
              </a:ext>
            </a:extLst>
          </p:cNvPr>
          <p:cNvSpPr>
            <a:spLocks noGrp="1"/>
          </p:cNvSpPr>
          <p:nvPr/>
        </p:nvSpPr>
        <p:spPr>
          <a:xfrm>
            <a:off x="6572250" y="5172075"/>
            <a:ext cx="4953000" cy="3810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职责集中后，牌面规则和流程控制不再混在一起</a:t>
            </a:r>
            <a:r>
              <a:rPr dirty="0"/>
              <a:t>。</a:t>
            </a:r>
          </a:p>
        </p:txBody>
      </p:sp>
      <p:sp>
        <p:nvSpPr>
          <p:cNvPr id="16" name="footer-page-5">
            <a:extLst>
              <a:ext uri="{FF2B5EF4-FFF2-40B4-BE49-F238E27FC236}">
                <a16:creationId xmlns:a16="http://schemas.microsoft.com/office/drawing/2014/main" id="{80AC5945-4016-44F5-9CF2-BE2651F31DDA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r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6490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-6">
            <a:extLst>
              <a:ext uri="{FF2B5EF4-FFF2-40B4-BE49-F238E27FC236}">
                <a16:creationId xmlns:a16="http://schemas.microsoft.com/office/drawing/2014/main" id="{DDA28FE9-4461-4C4C-B68D-52D04CA40B29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048000" cy="2095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l">
              <a:defRPr sz="10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KEY ALGORITHM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F5D2D3AC-7D1A-4550-96F9-7A1719ABAFFC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81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A 的动态计分解决了二十一点的核心边界</a:t>
            </a:r>
          </a:p>
        </p:txBody>
      </p:sp>
      <p:sp>
        <p:nvSpPr>
          <p:cNvPr id="3" name="title-rule-6">
            <a:extLst>
              <a:ext uri="{FF2B5EF4-FFF2-40B4-BE49-F238E27FC236}">
                <a16:creationId xmlns:a16="http://schemas.microsoft.com/office/drawing/2014/main" id="{1261ECAD-5168-47F4-A3B0-F3AE8B8B8D7C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914400" cy="47625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ace-lead">
            <a:extLst>
              <a:ext uri="{FF2B5EF4-FFF2-40B4-BE49-F238E27FC236}">
                <a16:creationId xmlns:a16="http://schemas.microsoft.com/office/drawing/2014/main" id="{1E5B5E49-5C60-47A1-8F0E-195A9FD20EFD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7429500" cy="3810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先把所有 A 记为 11；只要总点数爆牌，就逐张把 A 调整为 1。</a:t>
            </a:r>
          </a:p>
        </p:txBody>
      </p:sp>
      <p:sp>
        <p:nvSpPr>
          <p:cNvPr id="5" name="ace-example">
            <a:extLst>
              <a:ext uri="{FF2B5EF4-FFF2-40B4-BE49-F238E27FC236}">
                <a16:creationId xmlns:a16="http://schemas.microsoft.com/office/drawing/2014/main" id="{F5A0DC7D-DF47-4D72-9453-8B66AE910AEC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4476750" cy="3028950"/>
          </a:xfrm>
          <a:prstGeom prst="roundRect">
            <a:avLst>
              <a:gd name="adj" fmla="val 2516"/>
            </a:avLst>
          </a:prstGeom>
          <a:solidFill>
            <a:srgbClr val="EDEDED"/>
          </a:solidFill>
        </p:spPr>
      </p:sp>
      <p:sp>
        <p:nvSpPr>
          <p:cNvPr id="6" name="ace-cards">
            <a:extLst>
              <a:ext uri="{FF2B5EF4-FFF2-40B4-BE49-F238E27FC236}">
                <a16:creationId xmlns:a16="http://schemas.microsoft.com/office/drawing/2014/main" id="{6D2F75EC-AAE1-45B5-B59C-E989E66C662D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3810000" cy="523875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A   +   A   +   K</a:t>
            </a:r>
          </a:p>
        </p:txBody>
      </p:sp>
      <p:sp>
        <p:nvSpPr>
          <p:cNvPr id="7" name="ace-start">
            <a:extLst>
              <a:ext uri="{FF2B5EF4-FFF2-40B4-BE49-F238E27FC236}">
                <a16:creationId xmlns:a16="http://schemas.microsoft.com/office/drawing/2014/main" id="{F1B0FDE3-B170-421A-B140-5CB7EF65E8F1}"/>
              </a:ext>
            </a:extLst>
          </p:cNvPr>
          <p:cNvSpPr>
            <a:spLocks noGrp="1"/>
          </p:cNvSpPr>
          <p:nvPr/>
        </p:nvSpPr>
        <p:spPr>
          <a:xfrm>
            <a:off x="723900" y="3619500"/>
            <a:ext cx="3810000" cy="400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11 + 11 + 10 = 32</a:t>
            </a:r>
          </a:p>
        </p:txBody>
      </p:sp>
      <p:sp>
        <p:nvSpPr>
          <p:cNvPr id="8" name="ace-arrow">
            <a:extLst>
              <a:ext uri="{FF2B5EF4-FFF2-40B4-BE49-F238E27FC236}">
                <a16:creationId xmlns:a16="http://schemas.microsoft.com/office/drawing/2014/main" id="{4D23A278-F679-4913-8A98-A7FF3546C663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38100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15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↓  A 改为 1，减去 10</a:t>
            </a:r>
          </a:p>
        </p:txBody>
      </p:sp>
      <p:sp>
        <p:nvSpPr>
          <p:cNvPr id="9" name="ace-result">
            <a:extLst>
              <a:ext uri="{FF2B5EF4-FFF2-40B4-BE49-F238E27FC236}">
                <a16:creationId xmlns:a16="http://schemas.microsoft.com/office/drawing/2014/main" id="{F50591C8-1180-46AA-B28F-C8BA940557EB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3810000" cy="4381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32 → 22 → 12</a:t>
            </a:r>
          </a:p>
        </p:txBody>
      </p:sp>
      <p:sp>
        <p:nvSpPr>
          <p:cNvPr id="10" name="ace-code">
            <a:extLst>
              <a:ext uri="{FF2B5EF4-FFF2-40B4-BE49-F238E27FC236}">
                <a16:creationId xmlns:a16="http://schemas.microsoft.com/office/drawing/2014/main" id="{CF346D3A-568E-4A59-A838-A1FAF0DEE7C2}"/>
              </a:ext>
            </a:extLst>
          </p:cNvPr>
          <p:cNvSpPr>
            <a:spLocks noGrp="1"/>
          </p:cNvSpPr>
          <p:nvPr/>
        </p:nvSpPr>
        <p:spPr>
          <a:xfrm>
            <a:off x="5429250" y="2476500"/>
            <a:ext cx="6362700" cy="3028950"/>
          </a:xfrm>
          <a:prstGeom prst="roundRect">
            <a:avLst>
              <a:gd name="adj" fmla="val 2516"/>
            </a:avLst>
          </a:prstGeom>
          <a:solidFill>
            <a:srgbClr val="171717"/>
          </a:solidFill>
        </p:spPr>
      </p:sp>
      <p:sp>
        <p:nvSpPr>
          <p:cNvPr id="11" name="ace-code-copy">
            <a:extLst>
              <a:ext uri="{FF2B5EF4-FFF2-40B4-BE49-F238E27FC236}">
                <a16:creationId xmlns:a16="http://schemas.microsoft.com/office/drawing/2014/main" id="{CB6A847E-D800-4BB1-97C0-F8AC76AD1538}"/>
              </a:ext>
            </a:extLst>
          </p:cNvPr>
          <p:cNvSpPr>
            <a:spLocks noGrp="1"/>
          </p:cNvSpPr>
          <p:nvPr/>
        </p:nvSpPr>
        <p:spPr>
          <a:xfrm>
            <a:off x="5810250" y="2762250"/>
            <a:ext cx="5619750" cy="2381250"/>
          </a:xfrm>
          <a:prstGeom prst="rect">
            <a:avLst/>
          </a:prstGeom>
        </p:spPr>
        <p:txBody>
          <a:bodyPr spcFirstLastPara="1" lIns="0" tIns="0" rIns="0" bIns="0" anchor="t">
            <a:normAutofit fontScale="99681"/>
          </a:bodyPr>
          <a:lstStyle/>
          <a:p>
            <a:pPr algn="l">
              <a:defRPr sz="1425" b="0">
                <a:solidFill>
                  <a:srgbClr val="F3F3F3"/>
                </a:solidFill>
                <a:latin typeface="Consolas"/>
                <a:ea typeface="Consolas"/>
                <a:cs typeface="Consolas"/>
              </a:defRPr>
            </a:pPr>
            <a:r>
              <a:t>total = 0
aces = 0
for card in hand:
    total += card.get_value()
    if card.rank == "A":
        aces += 1
while total &gt; 21 and aces &gt; 0:
    total -= 10
    aces -= 1</a:t>
            </a:r>
          </a:p>
        </p:txBody>
      </p:sp>
      <p:sp>
        <p:nvSpPr>
          <p:cNvPr id="12" name="ace-complexity">
            <a:extLst>
              <a:ext uri="{FF2B5EF4-FFF2-40B4-BE49-F238E27FC236}">
                <a16:creationId xmlns:a16="http://schemas.microsoft.com/office/drawing/2014/main" id="{891403B6-9DE0-4ED4-A3CD-0AF0CD3A948A}"/>
              </a:ext>
            </a:extLst>
          </p:cNvPr>
          <p:cNvSpPr>
            <a:spLocks noGrp="1"/>
          </p:cNvSpPr>
          <p:nvPr/>
        </p:nvSpPr>
        <p:spPr>
          <a:xfrm>
            <a:off x="5429250" y="5676900"/>
            <a:ext cx="6362700" cy="3048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r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一次遍历 + 至多按 A 的数量调整，时间复杂度 O(n)</a:t>
            </a:r>
          </a:p>
        </p:txBody>
      </p:sp>
      <p:sp>
        <p:nvSpPr>
          <p:cNvPr id="14" name="footer-page-6">
            <a:extLst>
              <a:ext uri="{FF2B5EF4-FFF2-40B4-BE49-F238E27FC236}">
                <a16:creationId xmlns:a16="http://schemas.microsoft.com/office/drawing/2014/main" id="{FB0918A5-A1E3-444D-AA0C-BD417D490A65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r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6493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kicker-7">
            <a:extLst>
              <a:ext uri="{FF2B5EF4-FFF2-40B4-BE49-F238E27FC236}">
                <a16:creationId xmlns:a16="http://schemas.microsoft.com/office/drawing/2014/main" id="{C7AC2923-CCAE-4FC3-A2EC-B46D5454F124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048000" cy="2095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l">
              <a:defRPr sz="10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ADVANCED RULES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3B6BA79B-CCD0-45E9-9F1C-32669499082B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81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分牌、加倍与保险共享“筹码先校验”原则</a:t>
            </a:r>
          </a:p>
        </p:txBody>
      </p:sp>
      <p:sp>
        <p:nvSpPr>
          <p:cNvPr id="3" name="title-rule-7">
            <a:extLst>
              <a:ext uri="{FF2B5EF4-FFF2-40B4-BE49-F238E27FC236}">
                <a16:creationId xmlns:a16="http://schemas.microsoft.com/office/drawing/2014/main" id="{693E7F08-13F3-4FE5-8FE7-E8D6F5D56797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914400" cy="47625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advanced-lead">
            <a:extLst>
              <a:ext uri="{FF2B5EF4-FFF2-40B4-BE49-F238E27FC236}">
                <a16:creationId xmlns:a16="http://schemas.microsoft.com/office/drawing/2014/main" id="{65D2865F-49EE-4C99-9774-9DB0BED93CFB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9525000" cy="400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每个高级动作都先检查牌面条件与剩余筹码，再改变手牌和下注状态。</a:t>
            </a:r>
          </a:p>
        </p:txBody>
      </p:sp>
      <p:sp>
        <p:nvSpPr>
          <p:cNvPr id="5" name="rule-panel-0">
            <a:extLst>
              <a:ext uri="{FF2B5EF4-FFF2-40B4-BE49-F238E27FC236}">
                <a16:creationId xmlns:a16="http://schemas.microsoft.com/office/drawing/2014/main" id="{3C831163-5A9E-44D8-AB36-7183BB44379B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3543300" cy="2914650"/>
          </a:xfrm>
          <a:prstGeom prst="roundRect">
            <a:avLst>
              <a:gd name="adj" fmla="val 2614"/>
            </a:avLst>
          </a:prstGeom>
          <a:solidFill>
            <a:srgbClr val="EDEDED"/>
          </a:solidFill>
        </p:spPr>
      </p:sp>
      <p:sp>
        <p:nvSpPr>
          <p:cNvPr id="6" name="rule-accent-0">
            <a:extLst>
              <a:ext uri="{FF2B5EF4-FFF2-40B4-BE49-F238E27FC236}">
                <a16:creationId xmlns:a16="http://schemas.microsoft.com/office/drawing/2014/main" id="{D9F6AFF1-726F-48D9-B3ED-347A5904B6C0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3543300" cy="762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rule-title-0">
            <a:extLst>
              <a:ext uri="{FF2B5EF4-FFF2-40B4-BE49-F238E27FC236}">
                <a16:creationId xmlns:a16="http://schemas.microsoft.com/office/drawing/2014/main" id="{BEA6F73D-7C35-4AF7-AAF4-315B4605EB28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3048000" cy="400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分牌 Split</a:t>
            </a:r>
          </a:p>
        </p:txBody>
      </p:sp>
      <p:sp>
        <p:nvSpPr>
          <p:cNvPr id="8" name="rule-l1-0">
            <a:extLst>
              <a:ext uri="{FF2B5EF4-FFF2-40B4-BE49-F238E27FC236}">
                <a16:creationId xmlns:a16="http://schemas.microsoft.com/office/drawing/2014/main" id="{0D7F883D-D970-4EDB-8BA2-EBE3270467ED}"/>
              </a:ext>
            </a:extLst>
          </p:cNvPr>
          <p:cNvSpPr>
            <a:spLocks noGrp="1"/>
          </p:cNvSpPr>
          <p:nvPr/>
        </p:nvSpPr>
        <p:spPr>
          <a:xfrm>
            <a:off x="647700" y="3543300"/>
            <a:ext cx="685800" cy="2667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条件</a:t>
            </a:r>
          </a:p>
        </p:txBody>
      </p:sp>
      <p:sp>
        <p:nvSpPr>
          <p:cNvPr id="9" name="rule-v1-0">
            <a:extLst>
              <a:ext uri="{FF2B5EF4-FFF2-40B4-BE49-F238E27FC236}">
                <a16:creationId xmlns:a16="http://schemas.microsoft.com/office/drawing/2014/main" id="{4DF30A90-6FE6-408C-89A8-3EA4B202E311}"/>
              </a:ext>
            </a:extLst>
          </p:cNvPr>
          <p:cNvSpPr>
            <a:spLocks noGrp="1"/>
          </p:cNvSpPr>
          <p:nvPr/>
        </p:nvSpPr>
        <p:spPr>
          <a:xfrm>
            <a:off x="1390650" y="3486150"/>
            <a:ext cx="2266950" cy="4572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两张牌基础点数相同</a:t>
            </a:r>
          </a:p>
        </p:txBody>
      </p:sp>
      <p:sp>
        <p:nvSpPr>
          <p:cNvPr id="10" name="rule-l2-0">
            <a:extLst>
              <a:ext uri="{FF2B5EF4-FFF2-40B4-BE49-F238E27FC236}">
                <a16:creationId xmlns:a16="http://schemas.microsoft.com/office/drawing/2014/main" id="{56EB81D2-A6F8-42D2-A805-2347BC28B2ED}"/>
              </a:ext>
            </a:extLst>
          </p:cNvPr>
          <p:cNvSpPr>
            <a:spLocks noGrp="1"/>
          </p:cNvSpPr>
          <p:nvPr/>
        </p:nvSpPr>
        <p:spPr>
          <a:xfrm>
            <a:off x="647700" y="4362450"/>
            <a:ext cx="685800" cy="2667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处理</a:t>
            </a:r>
          </a:p>
        </p:txBody>
      </p:sp>
      <p:sp>
        <p:nvSpPr>
          <p:cNvPr id="11" name="rule-v2-0">
            <a:extLst>
              <a:ext uri="{FF2B5EF4-FFF2-40B4-BE49-F238E27FC236}">
                <a16:creationId xmlns:a16="http://schemas.microsoft.com/office/drawing/2014/main" id="{3101B065-67A5-4558-B65B-02F10E1F5D50}"/>
              </a:ext>
            </a:extLst>
          </p:cNvPr>
          <p:cNvSpPr>
            <a:spLocks noGrp="1"/>
          </p:cNvSpPr>
          <p:nvPr/>
        </p:nvSpPr>
        <p:spPr>
          <a:xfrm>
            <a:off x="1390650" y="4267200"/>
            <a:ext cx="2266950" cy="666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再扣一份赌注，拆成两手并各补一张</a:t>
            </a:r>
          </a:p>
        </p:txBody>
      </p:sp>
      <p:sp>
        <p:nvSpPr>
          <p:cNvPr id="12" name="rule-panel-1">
            <a:extLst>
              <a:ext uri="{FF2B5EF4-FFF2-40B4-BE49-F238E27FC236}">
                <a16:creationId xmlns:a16="http://schemas.microsoft.com/office/drawing/2014/main" id="{75AF55FB-CF53-4D09-9FBE-8FADFA773EB4}"/>
              </a:ext>
            </a:extLst>
          </p:cNvPr>
          <p:cNvSpPr>
            <a:spLocks noGrp="1"/>
          </p:cNvSpPr>
          <p:nvPr/>
        </p:nvSpPr>
        <p:spPr>
          <a:xfrm>
            <a:off x="4238625" y="2476500"/>
            <a:ext cx="3543300" cy="2914650"/>
          </a:xfrm>
          <a:prstGeom prst="roundRect">
            <a:avLst>
              <a:gd name="adj" fmla="val 2614"/>
            </a:avLst>
          </a:prstGeom>
          <a:solidFill>
            <a:srgbClr val="EDEDED"/>
          </a:solidFill>
        </p:spPr>
      </p:sp>
      <p:sp>
        <p:nvSpPr>
          <p:cNvPr id="13" name="rule-accent-1">
            <a:extLst>
              <a:ext uri="{FF2B5EF4-FFF2-40B4-BE49-F238E27FC236}">
                <a16:creationId xmlns:a16="http://schemas.microsoft.com/office/drawing/2014/main" id="{0BEFFEA9-E4E5-4152-B0B2-AF18E18490B9}"/>
              </a:ext>
            </a:extLst>
          </p:cNvPr>
          <p:cNvSpPr>
            <a:spLocks noGrp="1"/>
          </p:cNvSpPr>
          <p:nvPr/>
        </p:nvSpPr>
        <p:spPr>
          <a:xfrm>
            <a:off x="4238625" y="2476500"/>
            <a:ext cx="3543300" cy="762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4" name="rule-title-1">
            <a:extLst>
              <a:ext uri="{FF2B5EF4-FFF2-40B4-BE49-F238E27FC236}">
                <a16:creationId xmlns:a16="http://schemas.microsoft.com/office/drawing/2014/main" id="{DBE8C322-C003-4877-B3C4-C8E866B939BE}"/>
              </a:ext>
            </a:extLst>
          </p:cNvPr>
          <p:cNvSpPr>
            <a:spLocks noGrp="1"/>
          </p:cNvSpPr>
          <p:nvPr/>
        </p:nvSpPr>
        <p:spPr>
          <a:xfrm>
            <a:off x="4486275" y="2800350"/>
            <a:ext cx="3048000" cy="400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加倍 Double</a:t>
            </a:r>
          </a:p>
        </p:txBody>
      </p:sp>
      <p:sp>
        <p:nvSpPr>
          <p:cNvPr id="15" name="rule-l1-1">
            <a:extLst>
              <a:ext uri="{FF2B5EF4-FFF2-40B4-BE49-F238E27FC236}">
                <a16:creationId xmlns:a16="http://schemas.microsoft.com/office/drawing/2014/main" id="{B2AFD773-82E4-4BAC-9BFD-2B42E79CC4B5}"/>
              </a:ext>
            </a:extLst>
          </p:cNvPr>
          <p:cNvSpPr>
            <a:spLocks noGrp="1"/>
          </p:cNvSpPr>
          <p:nvPr/>
        </p:nvSpPr>
        <p:spPr>
          <a:xfrm>
            <a:off x="4486275" y="3543300"/>
            <a:ext cx="685800" cy="2667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条件</a:t>
            </a:r>
          </a:p>
        </p:txBody>
      </p:sp>
      <p:sp>
        <p:nvSpPr>
          <p:cNvPr id="16" name="rule-v1-1">
            <a:extLst>
              <a:ext uri="{FF2B5EF4-FFF2-40B4-BE49-F238E27FC236}">
                <a16:creationId xmlns:a16="http://schemas.microsoft.com/office/drawing/2014/main" id="{4896FBA5-7CCC-4753-964E-48D381E8FE29}"/>
              </a:ext>
            </a:extLst>
          </p:cNvPr>
          <p:cNvSpPr>
            <a:spLocks noGrp="1"/>
          </p:cNvSpPr>
          <p:nvPr/>
        </p:nvSpPr>
        <p:spPr>
          <a:xfrm>
            <a:off x="5229225" y="3486150"/>
            <a:ext cx="2266950" cy="4572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手牌为两张且筹码充足</a:t>
            </a:r>
          </a:p>
        </p:txBody>
      </p:sp>
      <p:sp>
        <p:nvSpPr>
          <p:cNvPr id="17" name="rule-l2-1">
            <a:extLst>
              <a:ext uri="{FF2B5EF4-FFF2-40B4-BE49-F238E27FC236}">
                <a16:creationId xmlns:a16="http://schemas.microsoft.com/office/drawing/2014/main" id="{D768E5EF-4AD2-457A-B449-2F0E60F86757}"/>
              </a:ext>
            </a:extLst>
          </p:cNvPr>
          <p:cNvSpPr>
            <a:spLocks noGrp="1"/>
          </p:cNvSpPr>
          <p:nvPr/>
        </p:nvSpPr>
        <p:spPr>
          <a:xfrm>
            <a:off x="4486275" y="4362450"/>
            <a:ext cx="685800" cy="2667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处理</a:t>
            </a:r>
          </a:p>
        </p:txBody>
      </p:sp>
      <p:sp>
        <p:nvSpPr>
          <p:cNvPr id="18" name="rule-v2-1">
            <a:extLst>
              <a:ext uri="{FF2B5EF4-FFF2-40B4-BE49-F238E27FC236}">
                <a16:creationId xmlns:a16="http://schemas.microsoft.com/office/drawing/2014/main" id="{5AE47449-0CCA-4EBA-9703-0F8C8E80FFCF}"/>
              </a:ext>
            </a:extLst>
          </p:cNvPr>
          <p:cNvSpPr>
            <a:spLocks noGrp="1"/>
          </p:cNvSpPr>
          <p:nvPr/>
        </p:nvSpPr>
        <p:spPr>
          <a:xfrm>
            <a:off x="5229225" y="4267200"/>
            <a:ext cx="2266950" cy="666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赌注翻倍，只再获得一张牌后停牌</a:t>
            </a:r>
          </a:p>
        </p:txBody>
      </p:sp>
      <p:sp>
        <p:nvSpPr>
          <p:cNvPr id="19" name="rule-panel-2">
            <a:extLst>
              <a:ext uri="{FF2B5EF4-FFF2-40B4-BE49-F238E27FC236}">
                <a16:creationId xmlns:a16="http://schemas.microsoft.com/office/drawing/2014/main" id="{4038EC9A-7A3F-4970-A4F0-5BB07F442F9C}"/>
              </a:ext>
            </a:extLst>
          </p:cNvPr>
          <p:cNvSpPr>
            <a:spLocks noGrp="1"/>
          </p:cNvSpPr>
          <p:nvPr/>
        </p:nvSpPr>
        <p:spPr>
          <a:xfrm>
            <a:off x="8077200" y="2476500"/>
            <a:ext cx="3543300" cy="2914650"/>
          </a:xfrm>
          <a:prstGeom prst="roundRect">
            <a:avLst>
              <a:gd name="adj" fmla="val 2614"/>
            </a:avLst>
          </a:prstGeom>
          <a:solidFill>
            <a:srgbClr val="EDEDED"/>
          </a:solidFill>
        </p:spPr>
      </p:sp>
      <p:sp>
        <p:nvSpPr>
          <p:cNvPr id="20" name="rule-accent-2">
            <a:extLst>
              <a:ext uri="{FF2B5EF4-FFF2-40B4-BE49-F238E27FC236}">
                <a16:creationId xmlns:a16="http://schemas.microsoft.com/office/drawing/2014/main" id="{53C67039-888B-489C-88C8-361CE62458C9}"/>
              </a:ext>
            </a:extLst>
          </p:cNvPr>
          <p:cNvSpPr>
            <a:spLocks noGrp="1"/>
          </p:cNvSpPr>
          <p:nvPr/>
        </p:nvSpPr>
        <p:spPr>
          <a:xfrm>
            <a:off x="8077200" y="2476500"/>
            <a:ext cx="3543300" cy="762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1" name="rule-title-2">
            <a:extLst>
              <a:ext uri="{FF2B5EF4-FFF2-40B4-BE49-F238E27FC236}">
                <a16:creationId xmlns:a16="http://schemas.microsoft.com/office/drawing/2014/main" id="{90FBD8B5-BAA5-4099-87DB-841C4D6E2C1A}"/>
              </a:ext>
            </a:extLst>
          </p:cNvPr>
          <p:cNvSpPr>
            <a:spLocks noGrp="1"/>
          </p:cNvSpPr>
          <p:nvPr/>
        </p:nvSpPr>
        <p:spPr>
          <a:xfrm>
            <a:off x="8324850" y="2800350"/>
            <a:ext cx="3048000" cy="400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保险 Insurance</a:t>
            </a:r>
          </a:p>
        </p:txBody>
      </p:sp>
      <p:sp>
        <p:nvSpPr>
          <p:cNvPr id="22" name="rule-l1-2">
            <a:extLst>
              <a:ext uri="{FF2B5EF4-FFF2-40B4-BE49-F238E27FC236}">
                <a16:creationId xmlns:a16="http://schemas.microsoft.com/office/drawing/2014/main" id="{FDD1C718-6AA9-421B-B74C-6C4F0FAE1A90}"/>
              </a:ext>
            </a:extLst>
          </p:cNvPr>
          <p:cNvSpPr>
            <a:spLocks noGrp="1"/>
          </p:cNvSpPr>
          <p:nvPr/>
        </p:nvSpPr>
        <p:spPr>
          <a:xfrm>
            <a:off x="8324850" y="3543300"/>
            <a:ext cx="685800" cy="2667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条件</a:t>
            </a:r>
          </a:p>
        </p:txBody>
      </p:sp>
      <p:sp>
        <p:nvSpPr>
          <p:cNvPr id="23" name="rule-v1-2">
            <a:extLst>
              <a:ext uri="{FF2B5EF4-FFF2-40B4-BE49-F238E27FC236}">
                <a16:creationId xmlns:a16="http://schemas.microsoft.com/office/drawing/2014/main" id="{EFF80457-1E71-43B7-A62E-248D65D343D0}"/>
              </a:ext>
            </a:extLst>
          </p:cNvPr>
          <p:cNvSpPr>
            <a:spLocks noGrp="1"/>
          </p:cNvSpPr>
          <p:nvPr/>
        </p:nvSpPr>
        <p:spPr>
          <a:xfrm>
            <a:off x="9067800" y="3486150"/>
            <a:ext cx="2266950" cy="4572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庄家明牌为 A</a:t>
            </a:r>
          </a:p>
        </p:txBody>
      </p:sp>
      <p:sp>
        <p:nvSpPr>
          <p:cNvPr id="24" name="rule-l2-2">
            <a:extLst>
              <a:ext uri="{FF2B5EF4-FFF2-40B4-BE49-F238E27FC236}">
                <a16:creationId xmlns:a16="http://schemas.microsoft.com/office/drawing/2014/main" id="{8DDD97BE-E37D-4545-A069-BCD2CD98C411}"/>
              </a:ext>
            </a:extLst>
          </p:cNvPr>
          <p:cNvSpPr>
            <a:spLocks noGrp="1"/>
          </p:cNvSpPr>
          <p:nvPr/>
        </p:nvSpPr>
        <p:spPr>
          <a:xfrm>
            <a:off x="8324850" y="4362450"/>
            <a:ext cx="685800" cy="2667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处理</a:t>
            </a:r>
          </a:p>
        </p:txBody>
      </p:sp>
      <p:sp>
        <p:nvSpPr>
          <p:cNvPr id="25" name="rule-v2-2">
            <a:extLst>
              <a:ext uri="{FF2B5EF4-FFF2-40B4-BE49-F238E27FC236}">
                <a16:creationId xmlns:a16="http://schemas.microsoft.com/office/drawing/2014/main" id="{A2F85130-6FE1-44E4-B45F-283C822EF768}"/>
              </a:ext>
            </a:extLst>
          </p:cNvPr>
          <p:cNvSpPr>
            <a:spLocks noGrp="1"/>
          </p:cNvSpPr>
          <p:nvPr/>
        </p:nvSpPr>
        <p:spPr>
          <a:xfrm>
            <a:off x="9067800" y="4267200"/>
            <a:ext cx="2266950" cy="666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支付主注一半；庄家 Blackjack 时赔付</a:t>
            </a:r>
          </a:p>
        </p:txBody>
      </p:sp>
      <p:sp>
        <p:nvSpPr>
          <p:cNvPr id="26" name="advanced-bottom">
            <a:extLst>
              <a:ext uri="{FF2B5EF4-FFF2-40B4-BE49-F238E27FC236}">
                <a16:creationId xmlns:a16="http://schemas.microsoft.com/office/drawing/2014/main" id="{A349FDCD-2DE6-49A4-A021-85724AAF969F}"/>
              </a:ext>
            </a:extLst>
          </p:cNvPr>
          <p:cNvSpPr>
            <a:spLocks noGrp="1"/>
          </p:cNvSpPr>
          <p:nvPr/>
        </p:nvSpPr>
        <p:spPr>
          <a:xfrm>
            <a:off x="400050" y="5638800"/>
            <a:ext cx="11401425" cy="400050"/>
          </a:xfrm>
          <a:prstGeom prst="rect">
            <a:avLst/>
          </a:prstGeom>
          <a:solidFill>
            <a:srgbClr val="171717"/>
          </a:solidFill>
        </p:spPr>
      </p:sp>
      <p:sp>
        <p:nvSpPr>
          <p:cNvPr id="27" name="advanced-bottom-text">
            <a:extLst>
              <a:ext uri="{FF2B5EF4-FFF2-40B4-BE49-F238E27FC236}">
                <a16:creationId xmlns:a16="http://schemas.microsoft.com/office/drawing/2014/main" id="{6A1C474C-7A4B-4FC0-BBE9-7517F0E53A84}"/>
              </a:ext>
            </a:extLst>
          </p:cNvPr>
          <p:cNvSpPr>
            <a:spLocks noGrp="1"/>
          </p:cNvSpPr>
          <p:nvPr/>
        </p:nvSpPr>
        <p:spPr>
          <a:xfrm>
            <a:off x="590550" y="5715000"/>
            <a:ext cx="10953750" cy="2476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共同约束：任何动作都不能让玩家筹码变成负数</a:t>
            </a:r>
          </a:p>
        </p:txBody>
      </p:sp>
      <p:sp>
        <p:nvSpPr>
          <p:cNvPr id="29" name="footer-page-7">
            <a:extLst>
              <a:ext uri="{FF2B5EF4-FFF2-40B4-BE49-F238E27FC236}">
                <a16:creationId xmlns:a16="http://schemas.microsoft.com/office/drawing/2014/main" id="{A05ABFA7-5202-4451-82D3-23F4DEF6CB57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r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902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kicker-8">
            <a:extLst>
              <a:ext uri="{FF2B5EF4-FFF2-40B4-BE49-F238E27FC236}">
                <a16:creationId xmlns:a16="http://schemas.microsoft.com/office/drawing/2014/main" id="{3BD79BF1-3CB5-4D7B-A705-3CB4262BB455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048000" cy="2095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l">
              <a:defRPr sz="10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STATE &amp; PERSISTENCE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7EE8D617-1A3C-4795-827B-C54C1D12A172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81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多人状态与 JSON 存档让游戏可以持续进行</a:t>
            </a:r>
          </a:p>
        </p:txBody>
      </p:sp>
      <p:sp>
        <p:nvSpPr>
          <p:cNvPr id="3" name="title-rule-8">
            <a:extLst>
              <a:ext uri="{FF2B5EF4-FFF2-40B4-BE49-F238E27FC236}">
                <a16:creationId xmlns:a16="http://schemas.microsoft.com/office/drawing/2014/main" id="{F9ABA4FE-65F2-46D8-899F-7FE3AF360B91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914400" cy="47625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state-lead">
            <a:extLst>
              <a:ext uri="{FF2B5EF4-FFF2-40B4-BE49-F238E27FC236}">
                <a16:creationId xmlns:a16="http://schemas.microsoft.com/office/drawing/2014/main" id="{FEC86F2A-CCEC-46B1-8934-4ADEB8ADC433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8191500" cy="400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同一轮牌局共享牌堆与庄家，每位玩家独立保存筹码、下注和战绩。</a:t>
            </a:r>
          </a:p>
        </p:txBody>
      </p:sp>
      <p:sp>
        <p:nvSpPr>
          <p:cNvPr id="5" name="state-left">
            <a:extLst>
              <a:ext uri="{FF2B5EF4-FFF2-40B4-BE49-F238E27FC236}">
                <a16:creationId xmlns:a16="http://schemas.microsoft.com/office/drawing/2014/main" id="{79E3B636-88EA-458D-B823-1AD772DAEEB3}"/>
              </a:ext>
            </a:extLst>
          </p:cNvPr>
          <p:cNvSpPr>
            <a:spLocks noGrp="1"/>
          </p:cNvSpPr>
          <p:nvPr/>
        </p:nvSpPr>
        <p:spPr>
          <a:xfrm>
            <a:off x="400050" y="2400300"/>
            <a:ext cx="5429250" cy="3333750"/>
          </a:xfrm>
          <a:prstGeom prst="roundRect">
            <a:avLst>
              <a:gd name="adj" fmla="val 2286"/>
            </a:avLst>
          </a:prstGeom>
          <a:solidFill>
            <a:srgbClr val="171717"/>
          </a:solidFill>
        </p:spPr>
      </p:sp>
      <p:sp>
        <p:nvSpPr>
          <p:cNvPr id="6" name="state-left-label">
            <a:extLst>
              <a:ext uri="{FF2B5EF4-FFF2-40B4-BE49-F238E27FC236}">
                <a16:creationId xmlns:a16="http://schemas.microsoft.com/office/drawing/2014/main" id="{8471D150-CA21-4C0D-B656-916AF5884474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4762500" cy="285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运行时玩家数据</a:t>
            </a:r>
          </a:p>
        </p:txBody>
      </p:sp>
      <p:sp>
        <p:nvSpPr>
          <p:cNvPr id="7" name="state-code">
            <a:extLst>
              <a:ext uri="{FF2B5EF4-FFF2-40B4-BE49-F238E27FC236}">
                <a16:creationId xmlns:a16="http://schemas.microsoft.com/office/drawing/2014/main" id="{E9B98F0A-B26D-4C64-A88F-18C854DD0D61}"/>
              </a:ext>
            </a:extLst>
          </p:cNvPr>
          <p:cNvSpPr>
            <a:spLocks noGrp="1"/>
          </p:cNvSpPr>
          <p:nvPr/>
        </p:nvSpPr>
        <p:spPr>
          <a:xfrm>
            <a:off x="704850" y="3143250"/>
            <a:ext cx="4762500" cy="2190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00" b="0">
                <a:solidFill>
                  <a:srgbClr val="F3F3F3"/>
                </a:solidFill>
                <a:latin typeface="Consolas"/>
                <a:ea typeface="Consolas"/>
                <a:cs typeface="Consolas"/>
              </a:defRPr>
            </a:pPr>
            <a:r>
              <a:t>player = {
    "name": "玩家1",
    "chips": 1000,
    "scores": {
        "win": 0,
        "loss": 0,
        "draw": 0
    }
}</a:t>
            </a:r>
          </a:p>
        </p:txBody>
      </p:sp>
      <p:sp>
        <p:nvSpPr>
          <p:cNvPr id="8" name="state-r1">
            <a:extLst>
              <a:ext uri="{FF2B5EF4-FFF2-40B4-BE49-F238E27FC236}">
                <a16:creationId xmlns:a16="http://schemas.microsoft.com/office/drawing/2014/main" id="{DDC09DCF-6A91-4CF3-86D6-7D591BFD014C}"/>
              </a:ext>
            </a:extLst>
          </p:cNvPr>
          <p:cNvSpPr>
            <a:spLocks noGrp="1"/>
          </p:cNvSpPr>
          <p:nvPr/>
        </p:nvSpPr>
        <p:spPr>
          <a:xfrm>
            <a:off x="6715125" y="2495550"/>
            <a:ext cx="238125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2–4 名玩家</a:t>
            </a:r>
          </a:p>
        </p:txBody>
      </p:sp>
      <p:sp>
        <p:nvSpPr>
          <p:cNvPr id="9" name="state-r1b">
            <a:extLst>
              <a:ext uri="{FF2B5EF4-FFF2-40B4-BE49-F238E27FC236}">
                <a16:creationId xmlns:a16="http://schemas.microsoft.com/office/drawing/2014/main" id="{4CBD9F02-61F0-4932-9DAB-6472E9FB28D6}"/>
              </a:ext>
            </a:extLst>
          </p:cNvPr>
          <p:cNvSpPr>
            <a:spLocks noGrp="1"/>
          </p:cNvSpPr>
          <p:nvPr/>
        </p:nvSpPr>
        <p:spPr>
          <a:xfrm>
            <a:off x="6715125" y="2876550"/>
            <a:ext cx="4191000" cy="400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按顺序下注与操作，避免状态相互覆盖。</a:t>
            </a:r>
          </a:p>
        </p:txBody>
      </p:sp>
      <p:sp>
        <p:nvSpPr>
          <p:cNvPr id="10" name="state-b1">
            <a:extLst>
              <a:ext uri="{FF2B5EF4-FFF2-40B4-BE49-F238E27FC236}">
                <a16:creationId xmlns:a16="http://schemas.microsoft.com/office/drawing/2014/main" id="{8A715BD6-DEA9-430B-B51E-14095450B41D}"/>
              </a:ext>
            </a:extLst>
          </p:cNvPr>
          <p:cNvSpPr>
            <a:spLocks noGrp="1"/>
          </p:cNvSpPr>
          <p:nvPr/>
        </p:nvSpPr>
        <p:spPr>
          <a:xfrm>
            <a:off x="6334125" y="2552700"/>
            <a:ext cx="190500" cy="1905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1" name="state-r2">
            <a:extLst>
              <a:ext uri="{FF2B5EF4-FFF2-40B4-BE49-F238E27FC236}">
                <a16:creationId xmlns:a16="http://schemas.microsoft.com/office/drawing/2014/main" id="{DA4FDEA1-E5A4-447B-91E9-BD4753854D86}"/>
              </a:ext>
            </a:extLst>
          </p:cNvPr>
          <p:cNvSpPr>
            <a:spLocks noGrp="1"/>
          </p:cNvSpPr>
          <p:nvPr/>
        </p:nvSpPr>
        <p:spPr>
          <a:xfrm>
            <a:off x="6715125" y="3562350"/>
            <a:ext cx="238125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JSON 自动存档</a:t>
            </a:r>
          </a:p>
        </p:txBody>
      </p:sp>
      <p:sp>
        <p:nvSpPr>
          <p:cNvPr id="12" name="state-r2b">
            <a:extLst>
              <a:ext uri="{FF2B5EF4-FFF2-40B4-BE49-F238E27FC236}">
                <a16:creationId xmlns:a16="http://schemas.microsoft.com/office/drawing/2014/main" id="{8F3096F6-EAB9-4CB9-95A1-FF868EAC5196}"/>
              </a:ext>
            </a:extLst>
          </p:cNvPr>
          <p:cNvSpPr>
            <a:spLocks noGrp="1"/>
          </p:cNvSpPr>
          <p:nvPr/>
        </p:nvSpPr>
        <p:spPr>
          <a:xfrm>
            <a:off x="6715125" y="3943350"/>
            <a:ext cx="4191000" cy="400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每局结束写入筹码、胜负和平局记录。</a:t>
            </a:r>
          </a:p>
        </p:txBody>
      </p:sp>
      <p:sp>
        <p:nvSpPr>
          <p:cNvPr id="13" name="state-b2">
            <a:extLst>
              <a:ext uri="{FF2B5EF4-FFF2-40B4-BE49-F238E27FC236}">
                <a16:creationId xmlns:a16="http://schemas.microsoft.com/office/drawing/2014/main" id="{D392418F-65CD-47E4-994D-CDEC526E2318}"/>
              </a:ext>
            </a:extLst>
          </p:cNvPr>
          <p:cNvSpPr>
            <a:spLocks noGrp="1"/>
          </p:cNvSpPr>
          <p:nvPr/>
        </p:nvSpPr>
        <p:spPr>
          <a:xfrm>
            <a:off x="6334125" y="3619500"/>
            <a:ext cx="190500" cy="1905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state-r3">
            <a:extLst>
              <a:ext uri="{FF2B5EF4-FFF2-40B4-BE49-F238E27FC236}">
                <a16:creationId xmlns:a16="http://schemas.microsoft.com/office/drawing/2014/main" id="{18168BFA-1C20-4549-84D9-6E510FFF1421}"/>
              </a:ext>
            </a:extLst>
          </p:cNvPr>
          <p:cNvSpPr>
            <a:spLocks noGrp="1"/>
          </p:cNvSpPr>
          <p:nvPr/>
        </p:nvSpPr>
        <p:spPr>
          <a:xfrm>
            <a:off x="6715125" y="4629150"/>
            <a:ext cx="238125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牌面频率累计</a:t>
            </a:r>
          </a:p>
        </p:txBody>
      </p:sp>
      <p:sp>
        <p:nvSpPr>
          <p:cNvPr id="15" name="state-r3b">
            <a:extLst>
              <a:ext uri="{FF2B5EF4-FFF2-40B4-BE49-F238E27FC236}">
                <a16:creationId xmlns:a16="http://schemas.microsoft.com/office/drawing/2014/main" id="{A964A413-3CDF-4BF8-BCEC-5A7D343C114F}"/>
              </a:ext>
            </a:extLst>
          </p:cNvPr>
          <p:cNvSpPr>
            <a:spLocks noGrp="1"/>
          </p:cNvSpPr>
          <p:nvPr/>
        </p:nvSpPr>
        <p:spPr>
          <a:xfrm>
            <a:off x="6715125" y="5010150"/>
            <a:ext cx="4191000" cy="400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deal() 每发一张牌就更新对应点数计数。</a:t>
            </a:r>
          </a:p>
        </p:txBody>
      </p:sp>
      <p:sp>
        <p:nvSpPr>
          <p:cNvPr id="16" name="state-b3">
            <a:extLst>
              <a:ext uri="{FF2B5EF4-FFF2-40B4-BE49-F238E27FC236}">
                <a16:creationId xmlns:a16="http://schemas.microsoft.com/office/drawing/2014/main" id="{7862240C-9F55-4B7E-9C74-32323E7A7821}"/>
              </a:ext>
            </a:extLst>
          </p:cNvPr>
          <p:cNvSpPr>
            <a:spLocks noGrp="1"/>
          </p:cNvSpPr>
          <p:nvPr/>
        </p:nvSpPr>
        <p:spPr>
          <a:xfrm>
            <a:off x="6334125" y="4686300"/>
            <a:ext cx="190500" cy="1905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footer-page-8">
            <a:extLst>
              <a:ext uri="{FF2B5EF4-FFF2-40B4-BE49-F238E27FC236}">
                <a16:creationId xmlns:a16="http://schemas.microsoft.com/office/drawing/2014/main" id="{3C47D94C-8CBA-47F4-9F60-181B96379300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r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80963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icker-9">
            <a:extLst>
              <a:ext uri="{FF2B5EF4-FFF2-40B4-BE49-F238E27FC236}">
                <a16:creationId xmlns:a16="http://schemas.microsoft.com/office/drawing/2014/main" id="{1776AF43-93AD-4376-B126-42FBCBE6B3F0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048000" cy="20955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l">
              <a:defRPr sz="10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VERIFICATION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213FAA81-EA15-4CA4-B180-27A4D7AF013C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81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关键路径均通过规则级验证</a:t>
            </a:r>
          </a:p>
        </p:txBody>
      </p:sp>
      <p:sp>
        <p:nvSpPr>
          <p:cNvPr id="3" name="title-rule-9">
            <a:extLst>
              <a:ext uri="{FF2B5EF4-FFF2-40B4-BE49-F238E27FC236}">
                <a16:creationId xmlns:a16="http://schemas.microsoft.com/office/drawing/2014/main" id="{90A3B075-2953-416E-A446-F3B647CD735C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914400" cy="47625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verify-lead">
            <a:extLst>
              <a:ext uri="{FF2B5EF4-FFF2-40B4-BE49-F238E27FC236}">
                <a16:creationId xmlns:a16="http://schemas.microsoft.com/office/drawing/2014/main" id="{FD9E4411-8089-4873-87F5-B58012BC997E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8858250" cy="3810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测试覆盖了对象创建、边界点数、筹码变化、多人轮次和文件读写。</a:t>
            </a:r>
          </a:p>
        </p:txBody>
      </p:sp>
      <p:sp>
        <p:nvSpPr>
          <p:cNvPr id="5" name="verify-header">
            <a:extLst>
              <a:ext uri="{FF2B5EF4-FFF2-40B4-BE49-F238E27FC236}">
                <a16:creationId xmlns:a16="http://schemas.microsoft.com/office/drawing/2014/main" id="{647A4E19-5562-4149-ACA1-81653486A398}"/>
              </a:ext>
            </a:extLst>
          </p:cNvPr>
          <p:cNvSpPr>
            <a:spLocks noGrp="1"/>
          </p:cNvSpPr>
          <p:nvPr/>
        </p:nvSpPr>
        <p:spPr>
          <a:xfrm>
            <a:off x="400050" y="2419350"/>
            <a:ext cx="11401425" cy="533400"/>
          </a:xfrm>
          <a:prstGeom prst="rect">
            <a:avLst/>
          </a:prstGeom>
          <a:solidFill>
            <a:srgbClr val="EDEDED"/>
          </a:solidFill>
        </p:spPr>
      </p:sp>
      <p:graphicFrame>
        <p:nvGraphicFramePr>
          <p:cNvPr id="16" name="verification-table"/>
          <p:cNvGraphicFramePr/>
          <p:nvPr/>
        </p:nvGraphicFramePr>
        <p:xfrm>
          <a:off x="400050" y="2419350"/>
          <a:ext cx="11401425" cy="3276602"/>
        </p:xfrm>
        <a:graphic>
          <a:graphicData uri="http://schemas.openxmlformats.org/drawingml/2006/table">
            <a:tbl>
              <a:tblPr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86">
                <a:tc>
                  <a:txBody>
                    <a:bodyPr/>
                    <a:lstStyle/>
                    <a:p>
                      <a:r>
                        <a:t>测试点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验证结果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r>
                        <a:t>语法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 -m py_compile blackjack.py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r>
                        <a:t>牌堆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种花色 × 13 种牌面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 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r>
                        <a:t>A 点数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+ A +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 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r>
                        <a:t>高级规则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分牌、加倍、保险赔付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r>
                        <a:t>多人流程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模拟两名玩家完成一轮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r>
                        <a:t>持久化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保存后重新读取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数据一致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verify-callout">
            <a:extLst>
              <a:ext uri="{FF2B5EF4-FFF2-40B4-BE49-F238E27FC236}">
                <a16:creationId xmlns:a16="http://schemas.microsoft.com/office/drawing/2014/main" id="{69971DA6-5156-44EB-A04D-D0A276B30AA4}"/>
              </a:ext>
            </a:extLst>
          </p:cNvPr>
          <p:cNvSpPr>
            <a:spLocks noGrp="1"/>
          </p:cNvSpPr>
          <p:nvPr/>
        </p:nvSpPr>
        <p:spPr>
          <a:xfrm>
            <a:off x="400050" y="5905500"/>
            <a:ext cx="11401425" cy="762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0" name="footer-page-9">
            <a:extLst>
              <a:ext uri="{FF2B5EF4-FFF2-40B4-BE49-F238E27FC236}">
                <a16:creationId xmlns:a16="http://schemas.microsoft.com/office/drawing/2014/main" id="{F6AFE0A1-B68B-485D-A776-4257E9128EEC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r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246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lose-right">
            <a:extLst>
              <a:ext uri="{FF2B5EF4-FFF2-40B4-BE49-F238E27FC236}">
                <a16:creationId xmlns:a16="http://schemas.microsoft.com/office/drawing/2014/main" id="{0F15A0E5-001A-46D9-9CD7-6A653ED921E8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" name="close-kicker">
            <a:extLst>
              <a:ext uri="{FF2B5EF4-FFF2-40B4-BE49-F238E27FC236}">
                <a16:creationId xmlns:a16="http://schemas.microsoft.com/office/drawing/2014/main" id="{A1B20D10-CA17-4A60-B703-1A89DE7AC313}"/>
              </a:ext>
            </a:extLst>
          </p:cNvPr>
          <p:cNvSpPr>
            <a:spLocks noGrp="1"/>
          </p:cNvSpPr>
          <p:nvPr/>
        </p:nvSpPr>
        <p:spPr>
          <a:xfrm>
            <a:off x="400050" y="419100"/>
            <a:ext cx="2095500" cy="2286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0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CONCLUSION</a:t>
            </a:r>
          </a:p>
        </p:txBody>
      </p:sp>
      <p:sp>
        <p:nvSpPr>
          <p:cNvPr id="3" name="close-title">
            <a:extLst>
              <a:ext uri="{FF2B5EF4-FFF2-40B4-BE49-F238E27FC236}">
                <a16:creationId xmlns:a16="http://schemas.microsoft.com/office/drawing/2014/main" id="{04E746CF-F66E-4034-9137-642D12379C13}"/>
              </a:ext>
            </a:extLst>
          </p:cNvPr>
          <p:cNvSpPr>
            <a:spLocks noGrp="1"/>
          </p:cNvSpPr>
          <p:nvPr/>
        </p:nvSpPr>
        <p:spPr>
          <a:xfrm>
            <a:off x="400050" y="971550"/>
            <a:ext cx="5143500" cy="1428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当前版本已完成
可运行的游戏闭环</a:t>
            </a:r>
          </a:p>
        </p:txBody>
      </p:sp>
      <p:sp>
        <p:nvSpPr>
          <p:cNvPr id="4" name="close-rule">
            <a:extLst>
              <a:ext uri="{FF2B5EF4-FFF2-40B4-BE49-F238E27FC236}">
                <a16:creationId xmlns:a16="http://schemas.microsoft.com/office/drawing/2014/main" id="{78557EB2-6FFA-472F-A7C4-ED303DADE05A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914400" cy="47625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5" name="close-achievement">
            <a:extLst>
              <a:ext uri="{FF2B5EF4-FFF2-40B4-BE49-F238E27FC236}">
                <a16:creationId xmlns:a16="http://schemas.microsoft.com/office/drawing/2014/main" id="{6FDDF494-3A13-4477-9B06-1AD0B5E997AB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4953000" cy="17145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✓ 规则：完整支持下注与高级操作
✓ 状态：支持多人、统计与持久化
✓ 工程：职责拆分，函数可独立验证</a:t>
            </a:r>
          </a:p>
        </p:txBody>
      </p:sp>
      <p:sp>
        <p:nvSpPr>
          <p:cNvPr id="6" name="close-next-label">
            <a:extLst>
              <a:ext uri="{FF2B5EF4-FFF2-40B4-BE49-F238E27FC236}">
                <a16:creationId xmlns:a16="http://schemas.microsoft.com/office/drawing/2014/main" id="{00401DB7-39FF-4855-ACD4-673CD9B2B23A}"/>
              </a:ext>
            </a:extLst>
          </p:cNvPr>
          <p:cNvSpPr>
            <a:spLocks noGrp="1"/>
          </p:cNvSpPr>
          <p:nvPr/>
        </p:nvSpPr>
        <p:spPr>
          <a:xfrm>
            <a:off x="6572250" y="685800"/>
            <a:ext cx="1714500" cy="3048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</a:t>
            </a:r>
          </a:p>
        </p:txBody>
      </p:sp>
      <p:sp>
        <p:nvSpPr>
          <p:cNvPr id="7" name="close-next-title">
            <a:extLst>
              <a:ext uri="{FF2B5EF4-FFF2-40B4-BE49-F238E27FC236}">
                <a16:creationId xmlns:a16="http://schemas.microsoft.com/office/drawing/2014/main" id="{E02DD6C4-D78E-4028-B132-B57AF226E840}"/>
              </a:ext>
            </a:extLst>
          </p:cNvPr>
          <p:cNvSpPr>
            <a:spLocks noGrp="1"/>
          </p:cNvSpPr>
          <p:nvPr/>
        </p:nvSpPr>
        <p:spPr>
          <a:xfrm>
            <a:off x="6572250" y="1200150"/>
            <a:ext cx="4762500" cy="1047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从“功能正确”走向
“体验更好、规则更精细”</a:t>
            </a:r>
          </a:p>
        </p:txBody>
      </p:sp>
      <p:sp>
        <p:nvSpPr>
          <p:cNvPr id="8" name="close-next-body">
            <a:extLst>
              <a:ext uri="{FF2B5EF4-FFF2-40B4-BE49-F238E27FC236}">
                <a16:creationId xmlns:a16="http://schemas.microsoft.com/office/drawing/2014/main" id="{DDBBB587-236F-4DD0-818C-69AFB1738D9C}"/>
              </a:ext>
            </a:extLst>
          </p:cNvPr>
          <p:cNvSpPr>
            <a:spLocks noGrp="1"/>
          </p:cNvSpPr>
          <p:nvPr/>
        </p:nvSpPr>
        <p:spPr>
          <a:xfrm>
            <a:off x="6572250" y="2800350"/>
            <a:ext cx="4762500" cy="20955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01  增加图形界面与可视化牌桌
02  完善自然 Blackjack 与特殊分牌规则
03  引入自动化测试与可配置规则</a:t>
            </a:r>
          </a:p>
        </p:txBody>
      </p:sp>
      <p:sp>
        <p:nvSpPr>
          <p:cNvPr id="9" name="close-end">
            <a:extLst>
              <a:ext uri="{FF2B5EF4-FFF2-40B4-BE49-F238E27FC236}">
                <a16:creationId xmlns:a16="http://schemas.microsoft.com/office/drawing/2014/main" id="{B703F3D1-E8ED-470D-AC5F-E4F5C333C68B}"/>
              </a:ext>
            </a:extLst>
          </p:cNvPr>
          <p:cNvSpPr>
            <a:spLocks noGrp="1"/>
          </p:cNvSpPr>
          <p:nvPr/>
        </p:nvSpPr>
        <p:spPr>
          <a:xfrm>
            <a:off x="6572250" y="5524500"/>
            <a:ext cx="4762500" cy="3810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谢谢 · 欢迎提问</a:t>
            </a:r>
          </a:p>
        </p:txBody>
      </p:sp>
      <p:sp>
        <p:nvSpPr>
          <p:cNvPr id="11" name="footer-page-10">
            <a:extLst>
              <a:ext uri="{FF2B5EF4-FFF2-40B4-BE49-F238E27FC236}">
                <a16:creationId xmlns:a16="http://schemas.microsoft.com/office/drawing/2014/main" id="{7F8C2CBB-6B7C-44B0-9132-31C059FA31EF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 algn="r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27202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Microsoft Office PowerPoint</Application>
  <DocSecurity>0</DocSecurity>
  <PresentationFormat>宽屏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奥 梅</cp:lastModifiedBy>
  <cp:revision>1</cp:revision>
  <dcterms:created xsi:type="dcterms:W3CDTF">2026-07-04T12:26:39Z</dcterms:created>
  <dcterms:modified xsi:type="dcterms:W3CDTF">2026-07-05T00:46:50Z</dcterms:modified>
</cp:coreProperties>
</file>